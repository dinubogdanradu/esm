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955" r:id="rId4"/>
  </p:sldMasterIdLst>
  <p:notesMasterIdLst>
    <p:notesMasterId r:id="rId7"/>
  </p:notesMasterIdLst>
  <p:handoutMasterIdLst>
    <p:handoutMasterId r:id="rId8"/>
  </p:handoutMasterIdLst>
  <p:sldIdLst>
    <p:sldId id="2147479732" r:id="rId5"/>
    <p:sldId id="2147479733" r:id="rId6"/>
  </p:sldIdLst>
  <p:sldSz cx="9144000" cy="5715000" type="screen16x10"/>
  <p:notesSz cx="6858000" cy="9144000"/>
  <p:custDataLst>
    <p:tags r:id="rId9"/>
  </p:custDataLst>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3226">
          <p15:clr>
            <a:srgbClr val="A4A3A4"/>
          </p15:clr>
        </p15:guide>
        <p15:guide id="2" orient="horz" pos="1806">
          <p15:clr>
            <a:srgbClr val="A4A3A4"/>
          </p15:clr>
        </p15:guide>
        <p15:guide id="3" orient="horz" pos="87">
          <p15:clr>
            <a:srgbClr val="A4A3A4"/>
          </p15:clr>
        </p15:guide>
        <p15:guide id="4" orient="horz" pos="473">
          <p15:clr>
            <a:srgbClr val="A4A3A4"/>
          </p15:clr>
        </p15:guide>
        <p15:guide id="5" orient="horz" pos="703">
          <p15:clr>
            <a:srgbClr val="A4A3A4"/>
          </p15:clr>
        </p15:guide>
        <p15:guide id="6" pos="68">
          <p15:clr>
            <a:srgbClr val="A4A3A4"/>
          </p15:clr>
        </p15:guide>
        <p15:guide id="7" pos="5692">
          <p15:clr>
            <a:srgbClr val="A4A3A4"/>
          </p15:clr>
        </p15:guide>
        <p15:guide id="8" pos="249">
          <p15:clr>
            <a:srgbClr val="A4A3A4"/>
          </p15:clr>
        </p15:guide>
        <p15:guide id="9" pos="5511">
          <p15:clr>
            <a:srgbClr val="A4A3A4"/>
          </p15:clr>
        </p15:guide>
        <p15:guide id="10" orient="horz" pos="1800">
          <p15:clr>
            <a:srgbClr val="A4A3A4"/>
          </p15:clr>
        </p15:guide>
        <p15:guide id="11" orient="horz" pos="1802">
          <p15:clr>
            <a:srgbClr val="A4A3A4"/>
          </p15:clr>
        </p15:guide>
        <p15:guide id="12" pos="24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hael Roess" initials="M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9BD"/>
    <a:srgbClr val="007CC3"/>
    <a:srgbClr val="095F85"/>
    <a:srgbClr val="C3D4E8"/>
    <a:srgbClr val="0F9CD8"/>
    <a:srgbClr val="040404"/>
    <a:srgbClr val="FCD908"/>
    <a:srgbClr val="FFFF99"/>
    <a:srgbClr val="FFFFFF"/>
    <a:srgbClr val="00A4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01" autoAdjust="0"/>
    <p:restoredTop sz="89520" autoAdjust="0"/>
  </p:normalViewPr>
  <p:slideViewPr>
    <p:cSldViewPr snapToGrid="0" snapToObjects="1" showGuides="1">
      <p:cViewPr varScale="1">
        <p:scale>
          <a:sx n="151" d="100"/>
          <a:sy n="151" d="100"/>
        </p:scale>
        <p:origin x="894" y="168"/>
      </p:cViewPr>
      <p:guideLst>
        <p:guide orient="horz" pos="3226"/>
        <p:guide orient="horz" pos="1806"/>
        <p:guide orient="horz" pos="87"/>
        <p:guide orient="horz" pos="473"/>
        <p:guide orient="horz" pos="703"/>
        <p:guide pos="68"/>
        <p:guide pos="5692"/>
        <p:guide pos="249"/>
        <p:guide pos="5511"/>
        <p:guide orient="horz" pos="1800"/>
        <p:guide orient="horz" pos="1802"/>
        <p:guide pos="24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tags" Target="tags/tag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F768139-829D-4764-9C6B-EE8D1977B13F}" type="datetimeFigureOut">
              <a:rPr lang="en-GB" smtClean="0"/>
              <a:pPr/>
              <a:t>29/04/2026</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FDA52A5-F05B-4095-82C8-0D07622ED885}" type="slidenum">
              <a:rPr lang="en-GB" smtClean="0"/>
              <a:pPr/>
              <a:t>‹#›</a:t>
            </a:fld>
            <a:endParaRPr lang="en-GB" dirty="0"/>
          </a:p>
        </p:txBody>
      </p:sp>
    </p:spTree>
    <p:extLst>
      <p:ext uri="{BB962C8B-B14F-4D97-AF65-F5344CB8AC3E}">
        <p14:creationId xmlns:p14="http://schemas.microsoft.com/office/powerpoint/2010/main" val="24182356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950FC3A5-8515-4154-B46A-D5FC24D5850F}" type="datetimeFigureOut">
              <a:rPr lang="en-GB"/>
              <a:pPr>
                <a:defRPr/>
              </a:pPr>
              <a:t>29/04/2026</a:t>
            </a:fld>
            <a:endParaRPr lang="en-GB" dirty="0"/>
          </a:p>
        </p:txBody>
      </p:sp>
      <p:sp>
        <p:nvSpPr>
          <p:cNvPr id="4" name="Slide Image Placehold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FA0492AA-C698-45A3-92EF-BF98E8A10CDE}" type="slidenum">
              <a:rPr lang="en-GB"/>
              <a:pPr>
                <a:defRPr/>
              </a:pPr>
              <a:t>‹#›</a:t>
            </a:fld>
            <a:endParaRPr lang="en-GB" dirty="0"/>
          </a:p>
        </p:txBody>
      </p:sp>
    </p:spTree>
    <p:extLst>
      <p:ext uri="{BB962C8B-B14F-4D97-AF65-F5344CB8AC3E}">
        <p14:creationId xmlns:p14="http://schemas.microsoft.com/office/powerpoint/2010/main" val="3900624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771650"/>
            <a:ext cx="7772400" cy="34624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200400"/>
            <a:ext cx="6400800"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863" b="0" i="0">
                <a:solidFill>
                  <a:srgbClr val="0D0D0D"/>
                </a:solidFill>
                <a:latin typeface="Segoe UI"/>
                <a:cs typeface="Segoe UI"/>
              </a:defRPr>
            </a:lvl1pPr>
          </a:lstStyle>
          <a:p>
            <a:pPr marL="28575">
              <a:spcBef>
                <a:spcPts val="180"/>
              </a:spcBef>
            </a:pPr>
            <a:fld id="{81D60167-4931-47E6-BA6A-407CBD079E47}" type="slidenum">
              <a:rPr lang="en-GB" spc="15" smtClean="0"/>
              <a:pPr marL="28575">
                <a:spcBef>
                  <a:spcPts val="180"/>
                </a:spcBef>
              </a:pPr>
              <a:t>‹#›</a:t>
            </a:fld>
            <a:endParaRPr lang="en-GB" spc="15" dirty="0"/>
          </a:p>
        </p:txBody>
      </p:sp>
    </p:spTree>
    <p:extLst>
      <p:ext uri="{BB962C8B-B14F-4D97-AF65-F5344CB8AC3E}">
        <p14:creationId xmlns:p14="http://schemas.microsoft.com/office/powerpoint/2010/main" val="2587888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00126" y="282787"/>
            <a:ext cx="7348061" cy="259751"/>
          </a:xfrm>
        </p:spPr>
        <p:txBody>
          <a:bodyPr lIns="0" tIns="0" rIns="0" bIns="0"/>
          <a:lstStyle>
            <a:lvl1pPr>
              <a:defRPr sz="1688" b="1" i="0">
                <a:solidFill>
                  <a:srgbClr val="4E396C"/>
                </a:solidFill>
                <a:latin typeface="Segoe UI"/>
                <a:cs typeface="Segoe UI"/>
              </a:defRPr>
            </a:lvl1pPr>
          </a:lstStyle>
          <a:p>
            <a:endParaRPr/>
          </a:p>
        </p:txBody>
      </p:sp>
      <p:sp>
        <p:nvSpPr>
          <p:cNvPr id="3" name="Holder 3"/>
          <p:cNvSpPr>
            <a:spLocks noGrp="1"/>
          </p:cNvSpPr>
          <p:nvPr>
            <p:ph type="body" idx="1"/>
          </p:nvPr>
        </p:nvSpPr>
        <p:spPr>
          <a:xfrm>
            <a:off x="432815" y="1096603"/>
            <a:ext cx="4575334" cy="230832"/>
          </a:xfrm>
        </p:spPr>
        <p:txBody>
          <a:bodyPr lIns="0" tIns="0" rIns="0" bIns="0"/>
          <a:lstStyle>
            <a:lvl1pPr>
              <a:defRPr sz="1500" b="0" i="0">
                <a:solidFill>
                  <a:srgbClr val="4E396C"/>
                </a:solidFill>
                <a:latin typeface="Segoe UI"/>
                <a:cs typeface="Segoe U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863" b="0" i="0">
                <a:solidFill>
                  <a:srgbClr val="0D0D0D"/>
                </a:solidFill>
                <a:latin typeface="Segoe UI"/>
                <a:cs typeface="Segoe UI"/>
              </a:defRPr>
            </a:lvl1pPr>
          </a:lstStyle>
          <a:p>
            <a:pPr marL="28575">
              <a:spcBef>
                <a:spcPts val="180"/>
              </a:spcBef>
            </a:pPr>
            <a:fld id="{81D60167-4931-47E6-BA6A-407CBD079E47}" type="slidenum">
              <a:rPr lang="en-GB" spc="15" smtClean="0"/>
              <a:pPr marL="28575">
                <a:spcBef>
                  <a:spcPts val="180"/>
                </a:spcBef>
              </a:pPr>
              <a:t>‹#›</a:t>
            </a:fld>
            <a:endParaRPr lang="en-GB" spc="15" dirty="0"/>
          </a:p>
        </p:txBody>
      </p:sp>
    </p:spTree>
    <p:extLst>
      <p:ext uri="{BB962C8B-B14F-4D97-AF65-F5344CB8AC3E}">
        <p14:creationId xmlns:p14="http://schemas.microsoft.com/office/powerpoint/2010/main" val="167724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00126" y="282787"/>
            <a:ext cx="7348061" cy="259751"/>
          </a:xfrm>
        </p:spPr>
        <p:txBody>
          <a:bodyPr lIns="0" tIns="0" rIns="0" bIns="0"/>
          <a:lstStyle>
            <a:lvl1pPr>
              <a:defRPr sz="1688" b="1" i="0">
                <a:solidFill>
                  <a:srgbClr val="4E396C"/>
                </a:solidFill>
                <a:latin typeface="Segoe UI"/>
                <a:cs typeface="Segoe UI"/>
              </a:defRPr>
            </a:lvl1pPr>
          </a:lstStyle>
          <a:p>
            <a:endParaRPr/>
          </a:p>
        </p:txBody>
      </p:sp>
      <p:sp>
        <p:nvSpPr>
          <p:cNvPr id="3" name="Holder 3"/>
          <p:cNvSpPr>
            <a:spLocks noGrp="1"/>
          </p:cNvSpPr>
          <p:nvPr>
            <p:ph sz="half" idx="2"/>
          </p:nvPr>
        </p:nvSpPr>
        <p:spPr>
          <a:xfrm>
            <a:off x="457200" y="1314450"/>
            <a:ext cx="3977640" cy="307777"/>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14450"/>
            <a:ext cx="3977640" cy="307777"/>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defRPr sz="863" b="0" i="0">
                <a:solidFill>
                  <a:srgbClr val="0D0D0D"/>
                </a:solidFill>
                <a:latin typeface="Segoe UI"/>
                <a:cs typeface="Segoe UI"/>
              </a:defRPr>
            </a:lvl1pPr>
          </a:lstStyle>
          <a:p>
            <a:pPr marL="28575">
              <a:spcBef>
                <a:spcPts val="180"/>
              </a:spcBef>
            </a:pPr>
            <a:fld id="{81D60167-4931-47E6-BA6A-407CBD079E47}" type="slidenum">
              <a:rPr lang="en-GB" spc="15" smtClean="0"/>
              <a:pPr marL="28575">
                <a:spcBef>
                  <a:spcPts val="180"/>
                </a:spcBef>
              </a:pPr>
              <a:t>‹#›</a:t>
            </a:fld>
            <a:endParaRPr lang="en-GB" spc="15" dirty="0"/>
          </a:p>
        </p:txBody>
      </p:sp>
    </p:spTree>
    <p:extLst>
      <p:ext uri="{BB962C8B-B14F-4D97-AF65-F5344CB8AC3E}">
        <p14:creationId xmlns:p14="http://schemas.microsoft.com/office/powerpoint/2010/main" val="1397481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tx2">
            <a:lumMod val="60000"/>
            <a:lumOff val="40000"/>
          </a:schemeClr>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duotone>
              <a:schemeClr val="accent1">
                <a:shade val="45000"/>
                <a:satMod val="135000"/>
              </a:schemeClr>
              <a:prstClr val="white"/>
            </a:duotone>
          </a:blip>
          <a:stretch>
            <a:fillRect/>
          </a:stretch>
        </p:blipFill>
        <p:spPr>
          <a:xfrm>
            <a:off x="1" y="0"/>
            <a:ext cx="9143999" cy="5714997"/>
          </a:xfrm>
          <a:prstGeom prst="rect">
            <a:avLst/>
          </a:prstGeom>
          <a:noFill/>
        </p:spPr>
      </p:pic>
      <p:pic>
        <p:nvPicPr>
          <p:cNvPr id="17" name="bg object 17"/>
          <p:cNvPicPr/>
          <p:nvPr/>
        </p:nvPicPr>
        <p:blipFill>
          <a:blip r:embed="rId3" cstate="print">
            <a:duotone>
              <a:prstClr val="black"/>
              <a:schemeClr val="accent1">
                <a:tint val="45000"/>
                <a:satMod val="400000"/>
              </a:schemeClr>
            </a:duotone>
          </a:blip>
          <a:stretch>
            <a:fillRect/>
          </a:stretch>
        </p:blipFill>
        <p:spPr>
          <a:xfrm>
            <a:off x="6970014" y="147320"/>
            <a:ext cx="2173986" cy="2482850"/>
          </a:xfrm>
          <a:prstGeom prst="rect">
            <a:avLst/>
          </a:prstGeom>
        </p:spPr>
      </p:pic>
      <p:pic>
        <p:nvPicPr>
          <p:cNvPr id="19" name="bg object 19"/>
          <p:cNvPicPr/>
          <p:nvPr/>
        </p:nvPicPr>
        <p:blipFill>
          <a:blip r:embed="rId4" cstate="print"/>
          <a:stretch>
            <a:fillRect/>
          </a:stretch>
        </p:blipFill>
        <p:spPr>
          <a:xfrm>
            <a:off x="379339" y="255848"/>
            <a:ext cx="633221" cy="264159"/>
          </a:xfrm>
          <a:prstGeom prst="rect">
            <a:avLst/>
          </a:prstGeom>
        </p:spPr>
      </p:pic>
      <p:sp>
        <p:nvSpPr>
          <p:cNvPr id="2" name="Holder 2"/>
          <p:cNvSpPr>
            <a:spLocks noGrp="1"/>
          </p:cNvSpPr>
          <p:nvPr>
            <p:ph type="title"/>
          </p:nvPr>
        </p:nvSpPr>
        <p:spPr>
          <a:xfrm>
            <a:off x="2686050" y="282787"/>
            <a:ext cx="5062137" cy="259751"/>
          </a:xfrm>
        </p:spPr>
        <p:txBody>
          <a:bodyPr lIns="0" tIns="0" rIns="0" bIns="0"/>
          <a:lstStyle>
            <a:lvl1pPr>
              <a:defRPr sz="1688" b="1" i="0">
                <a:solidFill>
                  <a:srgbClr val="4E396C"/>
                </a:solidFill>
                <a:latin typeface="Segoe UI"/>
                <a:cs typeface="Segoe UI"/>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p:txBody>
          <a:bodyPr lIns="0" tIns="0" rIns="0" bIns="0"/>
          <a:lstStyle>
            <a:lvl1pPr>
              <a:defRPr sz="863" b="0" i="0">
                <a:solidFill>
                  <a:srgbClr val="0D0D0D"/>
                </a:solidFill>
                <a:latin typeface="Segoe UI"/>
                <a:cs typeface="Segoe UI"/>
              </a:defRPr>
            </a:lvl1pPr>
          </a:lstStyle>
          <a:p>
            <a:pPr marL="28575">
              <a:spcBef>
                <a:spcPts val="180"/>
              </a:spcBef>
            </a:pPr>
            <a:fld id="{81D60167-4931-47E6-BA6A-407CBD079E47}" type="slidenum">
              <a:rPr lang="en-GB" spc="15" smtClean="0"/>
              <a:pPr marL="28575">
                <a:spcBef>
                  <a:spcPts val="180"/>
                </a:spcBef>
              </a:pPr>
              <a:t>‹#›</a:t>
            </a:fld>
            <a:endParaRPr lang="en-GB" spc="15" dirty="0"/>
          </a:p>
        </p:txBody>
      </p:sp>
    </p:spTree>
    <p:extLst>
      <p:ext uri="{BB962C8B-B14F-4D97-AF65-F5344CB8AC3E}">
        <p14:creationId xmlns:p14="http://schemas.microsoft.com/office/powerpoint/2010/main" val="1940876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3CE0806-01F0-4FE7-A919-48702B9A7F5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BD77F37A-E746-43AF-8208-73667C82EEA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C7DDBC-DB74-4275-893F-1F000D7BB3C2}"/>
              </a:ext>
            </a:extLst>
          </p:cNvPr>
          <p:cNvSpPr>
            <a:spLocks noGrp="1"/>
          </p:cNvSpPr>
          <p:nvPr>
            <p:ph type="sldNum" sz="quarter" idx="12"/>
          </p:nvPr>
        </p:nvSpPr>
        <p:spPr/>
        <p:txBody>
          <a:bodyPr/>
          <a:lstStyle/>
          <a:p>
            <a:pPr marL="28575">
              <a:spcBef>
                <a:spcPts val="180"/>
              </a:spcBef>
            </a:pPr>
            <a:fld id="{81D60167-4931-47E6-BA6A-407CBD079E47}" type="slidenum">
              <a:rPr lang="en-GB" spc="15" smtClean="0"/>
              <a:pPr marL="28575">
                <a:spcBef>
                  <a:spcPts val="180"/>
                </a:spcBef>
              </a:pPr>
              <a:t>‹#›</a:t>
            </a:fld>
            <a:endParaRPr lang="en-GB" spc="15" dirty="0"/>
          </a:p>
        </p:txBody>
      </p:sp>
    </p:spTree>
    <p:extLst>
      <p:ext uri="{BB962C8B-B14F-4D97-AF65-F5344CB8AC3E}">
        <p14:creationId xmlns:p14="http://schemas.microsoft.com/office/powerpoint/2010/main" val="815002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3F37D5E-8896-2141-9235-D380E029182F}"/>
              </a:ext>
            </a:extLst>
          </p:cNvPr>
          <p:cNvSpPr>
            <a:spLocks noGrp="1"/>
          </p:cNvSpPr>
          <p:nvPr>
            <p:ph type="ctrTitle"/>
          </p:nvPr>
        </p:nvSpPr>
        <p:spPr>
          <a:xfrm>
            <a:off x="341068" y="290774"/>
            <a:ext cx="8505269" cy="608000"/>
          </a:xfrm>
          <a:prstGeom prst="rect">
            <a:avLst/>
          </a:prstGeom>
        </p:spPr>
        <p:txBody>
          <a:bodyPr anchor="t">
            <a:noAutofit/>
          </a:bodyPr>
          <a:lstStyle>
            <a:lvl1pPr algn="l">
              <a:defRPr sz="1724" b="1">
                <a:solidFill>
                  <a:srgbClr val="4E3A6D"/>
                </a:solidFill>
                <a:latin typeface="Myriad Pro" panose="020B0503030403020204" pitchFamily="34" charset="0"/>
                <a:ea typeface="Helvetica Neue" panose="02000503000000020004" pitchFamily="2" charset="0"/>
                <a:cs typeface="Helvetica Neue" panose="02000503000000020004" pitchFamily="2" charset="0"/>
              </a:defRPr>
            </a:lvl1pPr>
          </a:lstStyle>
          <a:p>
            <a:r>
              <a:rPr lang="en-GB"/>
              <a:t>Click to edit Master title style</a:t>
            </a:r>
            <a:endParaRPr lang="en-US"/>
          </a:p>
        </p:txBody>
      </p:sp>
      <p:cxnSp>
        <p:nvCxnSpPr>
          <p:cNvPr id="9" name="Straight Connector 8">
            <a:extLst>
              <a:ext uri="{FF2B5EF4-FFF2-40B4-BE49-F238E27FC236}">
                <a16:creationId xmlns:a16="http://schemas.microsoft.com/office/drawing/2014/main" id="{CDAC1110-BB9D-ED43-B355-74EB04D1C601}"/>
              </a:ext>
            </a:extLst>
          </p:cNvPr>
          <p:cNvCxnSpPr>
            <a:cxnSpLocks/>
          </p:cNvCxnSpPr>
          <p:nvPr userDrawn="1"/>
        </p:nvCxnSpPr>
        <p:spPr>
          <a:xfrm>
            <a:off x="394767" y="744603"/>
            <a:ext cx="782941" cy="0"/>
          </a:xfrm>
          <a:prstGeom prst="line">
            <a:avLst/>
          </a:prstGeom>
          <a:ln w="38100">
            <a:solidFill>
              <a:srgbClr val="203F44"/>
            </a:solidFill>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27A52A69-6D33-4E60-9067-95664E6C9569}"/>
              </a:ext>
            </a:extLst>
          </p:cNvPr>
          <p:cNvGrpSpPr/>
          <p:nvPr userDrawn="1"/>
        </p:nvGrpSpPr>
        <p:grpSpPr>
          <a:xfrm>
            <a:off x="-841999" y="256113"/>
            <a:ext cx="270075" cy="3952284"/>
            <a:chOff x="-1690576" y="467831"/>
            <a:chExt cx="542260" cy="7219505"/>
          </a:xfrm>
        </p:grpSpPr>
        <p:sp>
          <p:nvSpPr>
            <p:cNvPr id="22" name="Rectangle 21">
              <a:extLst>
                <a:ext uri="{FF2B5EF4-FFF2-40B4-BE49-F238E27FC236}">
                  <a16:creationId xmlns:a16="http://schemas.microsoft.com/office/drawing/2014/main" id="{85AA730D-30BB-4A86-8487-8B26C574E4D0}"/>
                </a:ext>
              </a:extLst>
            </p:cNvPr>
            <p:cNvSpPr/>
            <p:nvPr userDrawn="1"/>
          </p:nvSpPr>
          <p:spPr>
            <a:xfrm>
              <a:off x="-1690576" y="467831"/>
              <a:ext cx="542260" cy="542260"/>
            </a:xfrm>
            <a:prstGeom prst="rect">
              <a:avLst/>
            </a:prstGeom>
            <a:solidFill>
              <a:srgbClr val="B9D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87"/>
            </a:p>
          </p:txBody>
        </p:sp>
        <p:sp>
          <p:nvSpPr>
            <p:cNvPr id="23" name="Rectangle 22">
              <a:extLst>
                <a:ext uri="{FF2B5EF4-FFF2-40B4-BE49-F238E27FC236}">
                  <a16:creationId xmlns:a16="http://schemas.microsoft.com/office/drawing/2014/main" id="{AFC6BBB0-83EE-4810-927A-DF06EE3C618F}"/>
                </a:ext>
              </a:extLst>
            </p:cNvPr>
            <p:cNvSpPr/>
            <p:nvPr userDrawn="1"/>
          </p:nvSpPr>
          <p:spPr>
            <a:xfrm>
              <a:off x="-1690576" y="1743738"/>
              <a:ext cx="542260" cy="542260"/>
            </a:xfrm>
            <a:prstGeom prst="rect">
              <a:avLst/>
            </a:prstGeom>
            <a:solidFill>
              <a:srgbClr val="5087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87"/>
            </a:p>
          </p:txBody>
        </p:sp>
        <p:sp>
          <p:nvSpPr>
            <p:cNvPr id="24" name="Rectangle 23">
              <a:extLst>
                <a:ext uri="{FF2B5EF4-FFF2-40B4-BE49-F238E27FC236}">
                  <a16:creationId xmlns:a16="http://schemas.microsoft.com/office/drawing/2014/main" id="{FF2F36EC-FAEB-4D6C-AC0B-D3333ED58927}"/>
                </a:ext>
              </a:extLst>
            </p:cNvPr>
            <p:cNvSpPr/>
            <p:nvPr userDrawn="1"/>
          </p:nvSpPr>
          <p:spPr>
            <a:xfrm>
              <a:off x="-1690576" y="3040910"/>
              <a:ext cx="542260" cy="542260"/>
            </a:xfrm>
            <a:prstGeom prst="rect">
              <a:avLst/>
            </a:prstGeom>
            <a:solidFill>
              <a:srgbClr val="203F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87"/>
            </a:p>
          </p:txBody>
        </p:sp>
        <p:sp>
          <p:nvSpPr>
            <p:cNvPr id="25" name="Rectangle 24">
              <a:extLst>
                <a:ext uri="{FF2B5EF4-FFF2-40B4-BE49-F238E27FC236}">
                  <a16:creationId xmlns:a16="http://schemas.microsoft.com/office/drawing/2014/main" id="{7CF468E5-83FA-48E5-A1BB-7A722956FA56}"/>
                </a:ext>
              </a:extLst>
            </p:cNvPr>
            <p:cNvSpPr/>
            <p:nvPr userDrawn="1"/>
          </p:nvSpPr>
          <p:spPr>
            <a:xfrm>
              <a:off x="-1690576" y="4401877"/>
              <a:ext cx="542260" cy="542260"/>
            </a:xfrm>
            <a:prstGeom prst="rect">
              <a:avLst/>
            </a:prstGeom>
            <a:solidFill>
              <a:srgbClr val="D2CD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87"/>
            </a:p>
          </p:txBody>
        </p:sp>
        <p:sp>
          <p:nvSpPr>
            <p:cNvPr id="26" name="Rectangle 25">
              <a:extLst>
                <a:ext uri="{FF2B5EF4-FFF2-40B4-BE49-F238E27FC236}">
                  <a16:creationId xmlns:a16="http://schemas.microsoft.com/office/drawing/2014/main" id="{6422CC15-FA57-4F89-A07D-EC93EDD69587}"/>
                </a:ext>
              </a:extLst>
            </p:cNvPr>
            <p:cNvSpPr/>
            <p:nvPr userDrawn="1"/>
          </p:nvSpPr>
          <p:spPr>
            <a:xfrm>
              <a:off x="-1690576" y="5805374"/>
              <a:ext cx="542260" cy="542260"/>
            </a:xfrm>
            <a:prstGeom prst="rect">
              <a:avLst/>
            </a:prstGeom>
            <a:solidFill>
              <a:srgbClr val="7F66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87"/>
            </a:p>
          </p:txBody>
        </p:sp>
        <p:sp>
          <p:nvSpPr>
            <p:cNvPr id="27" name="Rectangle 26">
              <a:extLst>
                <a:ext uri="{FF2B5EF4-FFF2-40B4-BE49-F238E27FC236}">
                  <a16:creationId xmlns:a16="http://schemas.microsoft.com/office/drawing/2014/main" id="{CC926717-5C24-4E10-A6F6-D5A1ED5E70A3}"/>
                </a:ext>
              </a:extLst>
            </p:cNvPr>
            <p:cNvSpPr/>
            <p:nvPr userDrawn="1"/>
          </p:nvSpPr>
          <p:spPr>
            <a:xfrm>
              <a:off x="-1690576" y="7145076"/>
              <a:ext cx="542260" cy="542260"/>
            </a:xfrm>
            <a:prstGeom prst="rect">
              <a:avLst/>
            </a:prstGeom>
            <a:solidFill>
              <a:srgbClr val="4E3A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87"/>
            </a:p>
          </p:txBody>
        </p:sp>
      </p:grpSp>
      <p:sp>
        <p:nvSpPr>
          <p:cNvPr id="28" name="Slide Number Placeholder 6">
            <a:extLst>
              <a:ext uri="{FF2B5EF4-FFF2-40B4-BE49-F238E27FC236}">
                <a16:creationId xmlns:a16="http://schemas.microsoft.com/office/drawing/2014/main" id="{C8ED111B-C0BA-4BEC-92F5-30C3BE5ED294}"/>
              </a:ext>
            </a:extLst>
          </p:cNvPr>
          <p:cNvSpPr>
            <a:spLocks noGrp="1"/>
          </p:cNvSpPr>
          <p:nvPr>
            <p:ph type="sldNum" sz="quarter" idx="12"/>
          </p:nvPr>
        </p:nvSpPr>
        <p:spPr>
          <a:xfrm>
            <a:off x="45635" y="5454717"/>
            <a:ext cx="354923" cy="138499"/>
          </a:xfrm>
          <a:prstGeom prst="rect">
            <a:avLst/>
          </a:prstGeom>
        </p:spPr>
        <p:txBody>
          <a:bodyPr anchor="ctr"/>
          <a:lstStyle>
            <a:lvl1pPr algn="ctr">
              <a:defRPr sz="900" baseline="0">
                <a:solidFill>
                  <a:schemeClr val="tx1">
                    <a:lumMod val="95000"/>
                    <a:lumOff val="5000"/>
                  </a:schemeClr>
                </a:solidFill>
                <a:latin typeface="Myriad Pro Black" panose="020B0403030403020204"/>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826860916"/>
      </p:ext>
    </p:extLst>
  </p:cSld>
  <p:clrMapOvr>
    <a:masterClrMapping/>
  </p:clrMapOvr>
  <p:extLst>
    <p:ext uri="{DCECCB84-F9BA-43D5-87BE-67443E8EF086}">
      <p15:sldGuideLst xmlns:p15="http://schemas.microsoft.com/office/powerpoint/2012/main">
        <p15:guide id="1" orient="horz" pos="3288">
          <p15:clr>
            <a:srgbClr val="FBAE40"/>
          </p15:clr>
        </p15:guide>
        <p15:guide id="2" pos="47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10" name="Shape 42"/>
          <p:cNvSpPr>
            <a:spLocks noGrp="1"/>
          </p:cNvSpPr>
          <p:nvPr>
            <p:ph type="sldNum" sz="quarter" idx="2"/>
          </p:nvPr>
        </p:nvSpPr>
        <p:spPr>
          <a:xfrm>
            <a:off x="231391" y="5283483"/>
            <a:ext cx="468287" cy="153888"/>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7" name="Picture 6"/>
          <p:cNvPicPr>
            <a:picLocks noChangeAspect="1"/>
          </p:cNvPicPr>
          <p:nvPr userDrawn="1"/>
        </p:nvPicPr>
        <p:blipFill>
          <a:blip r:embed="rId2">
            <a:biLevel thresh="25000"/>
          </a:blip>
          <a:stretch>
            <a:fillRect/>
          </a:stretch>
        </p:blipFill>
        <p:spPr>
          <a:xfrm>
            <a:off x="8024814" y="5005932"/>
            <a:ext cx="914401" cy="519344"/>
          </a:xfrm>
          <a:prstGeom prst="rect">
            <a:avLst/>
          </a:prstGeom>
        </p:spPr>
      </p:pic>
    </p:spTree>
    <p:extLst>
      <p:ext uri="{BB962C8B-B14F-4D97-AF65-F5344CB8AC3E}">
        <p14:creationId xmlns:p14="http://schemas.microsoft.com/office/powerpoint/2010/main" val="910310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3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9338" y="166960"/>
            <a:ext cx="8723050" cy="503318"/>
          </a:xfrm>
          <a:prstGeom prst="rect">
            <a:avLst/>
          </a:prstGeom>
        </p:spPr>
        <p:txBody>
          <a:bodyPr anchor="t">
            <a:noAutofit/>
          </a:bodyPr>
          <a:lstStyle>
            <a:lvl1pPr>
              <a:defRPr sz="2000" b="0">
                <a:solidFill>
                  <a:schemeClr val="tx1"/>
                </a:solidFill>
              </a:defRPr>
            </a:lvl1pPr>
          </a:lstStyle>
          <a:p>
            <a:r>
              <a:rPr lang="en-US" dirty="0"/>
              <a:t>Title text</a:t>
            </a:r>
          </a:p>
        </p:txBody>
      </p:sp>
      <p:sp>
        <p:nvSpPr>
          <p:cNvPr id="17" name="Text Placeholder 2"/>
          <p:cNvSpPr>
            <a:spLocks noGrp="1"/>
          </p:cNvSpPr>
          <p:nvPr>
            <p:ph type="body" idx="1"/>
          </p:nvPr>
        </p:nvSpPr>
        <p:spPr>
          <a:xfrm>
            <a:off x="199338" y="686610"/>
            <a:ext cx="8723050" cy="632081"/>
          </a:xfrm>
          <a:prstGeom prst="rect">
            <a:avLst/>
          </a:prstGeom>
        </p:spPr>
        <p:txBody>
          <a:bodyPr anchor="t">
            <a:noAutofit/>
          </a:bodyPr>
          <a:lstStyle>
            <a:lvl1pPr marL="342892" indent="-342892">
              <a:buNone/>
              <a:defRPr kumimoji="0" lang="en-US" sz="1600" normalizeH="0" dirty="0" smtClean="0">
                <a:solidFill>
                  <a:schemeClr val="tx2">
                    <a:lumMod val="50000"/>
                  </a:schemeClr>
                </a:solidFill>
                <a:effectLst/>
                <a:latin typeface="Arial"/>
                <a:ea typeface="Arial"/>
                <a:cs typeface="Arial"/>
              </a:defRPr>
            </a:lvl1pPr>
          </a:lstStyle>
          <a:p>
            <a:pPr marL="0" lvl="0" indent="0" fontAlgn="auto" hangingPunct="1">
              <a:spcBef>
                <a:spcPts val="0"/>
              </a:spcBef>
              <a:buSzTx/>
            </a:pPr>
            <a:r>
              <a:rPr lang="en-US" dirty="0"/>
              <a:t>Click to edit Master text styles</a:t>
            </a:r>
          </a:p>
        </p:txBody>
      </p:sp>
      <p:sp>
        <p:nvSpPr>
          <p:cNvPr id="9" name="Shape 42"/>
          <p:cNvSpPr>
            <a:spLocks noGrp="1"/>
          </p:cNvSpPr>
          <p:nvPr>
            <p:ph type="sldNum" sz="quarter" idx="2"/>
          </p:nvPr>
        </p:nvSpPr>
        <p:spPr>
          <a:xfrm>
            <a:off x="231389" y="5283481"/>
            <a:ext cx="468287" cy="153888"/>
          </a:xfrm>
          <a:prstGeom prst="rect">
            <a:avLst/>
          </a:prstGeom>
        </p:spPr>
        <p:txBody>
          <a:bodyPr/>
          <a:lstStyle>
            <a:lvl1pPr algn="l">
              <a:defRPr sz="10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sp>
        <p:nvSpPr>
          <p:cNvPr id="20" name="object 20"/>
          <p:cNvSpPr/>
          <p:nvPr userDrawn="1"/>
        </p:nvSpPr>
        <p:spPr>
          <a:xfrm>
            <a:off x="9048708" y="2360014"/>
            <a:ext cx="104201" cy="961591"/>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sz="1800"/>
          </a:p>
        </p:txBody>
      </p:sp>
      <p:sp>
        <p:nvSpPr>
          <p:cNvPr id="21" name="object 9"/>
          <p:cNvSpPr/>
          <p:nvPr userDrawn="1"/>
        </p:nvSpPr>
        <p:spPr>
          <a:xfrm>
            <a:off x="-8919" y="2360014"/>
            <a:ext cx="104201" cy="961591"/>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sz="1800"/>
          </a:p>
        </p:txBody>
      </p:sp>
      <p:pic>
        <p:nvPicPr>
          <p:cNvPr id="10" name="Picture 9"/>
          <p:cNvPicPr>
            <a:picLocks noChangeAspect="1"/>
          </p:cNvPicPr>
          <p:nvPr userDrawn="1"/>
        </p:nvPicPr>
        <p:blipFill>
          <a:blip r:embed="rId2"/>
          <a:stretch>
            <a:fillRect/>
          </a:stretch>
        </p:blipFill>
        <p:spPr>
          <a:xfrm>
            <a:off x="8034835" y="5012901"/>
            <a:ext cx="909665" cy="516961"/>
          </a:xfrm>
          <a:prstGeom prst="rect">
            <a:avLst/>
          </a:prstGeom>
        </p:spPr>
      </p:pic>
    </p:spTree>
    <p:extLst>
      <p:ext uri="{BB962C8B-B14F-4D97-AF65-F5344CB8AC3E}">
        <p14:creationId xmlns:p14="http://schemas.microsoft.com/office/powerpoint/2010/main" val="2369340302"/>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30_Custom Layout">
    <p:spTree>
      <p:nvGrpSpPr>
        <p:cNvPr id="1" name=""/>
        <p:cNvGrpSpPr/>
        <p:nvPr/>
      </p:nvGrpSpPr>
      <p:grpSpPr>
        <a:xfrm>
          <a:off x="0" y="0"/>
          <a:ext cx="0" cy="0"/>
          <a:chOff x="0" y="0"/>
          <a:chExt cx="0" cy="0"/>
        </a:xfrm>
      </p:grpSpPr>
      <p:sp>
        <p:nvSpPr>
          <p:cNvPr id="13" name="Shape 40"/>
          <p:cNvSpPr>
            <a:spLocks noGrp="1"/>
          </p:cNvSpPr>
          <p:nvPr>
            <p:ph type="title" hasCustomPrompt="1"/>
          </p:nvPr>
        </p:nvSpPr>
        <p:spPr>
          <a:xfrm>
            <a:off x="197943" y="166960"/>
            <a:ext cx="8723050" cy="503318"/>
          </a:xfrm>
          <a:prstGeom prst="rect">
            <a:avLst/>
          </a:prstGeom>
        </p:spPr>
        <p:txBody>
          <a:bodyPr anchor="t">
            <a:noAutofit/>
          </a:bodyPr>
          <a:lstStyle>
            <a:lvl1pPr>
              <a:defRPr sz="2000" b="1">
                <a:solidFill>
                  <a:srgbClr val="061838"/>
                </a:solidFill>
              </a:defRPr>
            </a:lvl1pPr>
          </a:lstStyle>
          <a:p>
            <a:r>
              <a:rPr lang="en-US" dirty="0"/>
              <a:t>TITLE TEXT</a:t>
            </a:r>
          </a:p>
        </p:txBody>
      </p:sp>
    </p:spTree>
    <p:extLst>
      <p:ext uri="{BB962C8B-B14F-4D97-AF65-F5344CB8AC3E}">
        <p14:creationId xmlns:p14="http://schemas.microsoft.com/office/powerpoint/2010/main" val="399807573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16" name="bg object 16"/>
          <p:cNvSpPr/>
          <p:nvPr/>
        </p:nvSpPr>
        <p:spPr>
          <a:xfrm>
            <a:off x="394906" y="744854"/>
            <a:ext cx="782955" cy="0"/>
          </a:xfrm>
          <a:custGeom>
            <a:avLst/>
            <a:gdLst/>
            <a:ahLst/>
            <a:cxnLst/>
            <a:rect l="l" t="t" r="r" b="b"/>
            <a:pathLst>
              <a:path w="1043940">
                <a:moveTo>
                  <a:pt x="0" y="0"/>
                </a:moveTo>
                <a:lnTo>
                  <a:pt x="1043939" y="0"/>
                </a:lnTo>
              </a:path>
            </a:pathLst>
          </a:custGeom>
          <a:ln w="38100">
            <a:solidFill>
              <a:srgbClr val="1F3E44"/>
            </a:solidFill>
          </a:ln>
        </p:spPr>
        <p:txBody>
          <a:bodyPr wrap="square" lIns="0" tIns="0" rIns="0" bIns="0" rtlCol="0"/>
          <a:lstStyle/>
          <a:p>
            <a:endParaRPr/>
          </a:p>
        </p:txBody>
      </p:sp>
      <p:sp>
        <p:nvSpPr>
          <p:cNvPr id="18" name="bg object 18"/>
          <p:cNvSpPr/>
          <p:nvPr/>
        </p:nvSpPr>
        <p:spPr>
          <a:xfrm>
            <a:off x="8412648" y="5285743"/>
            <a:ext cx="527209" cy="213783"/>
          </a:xfrm>
          <a:custGeom>
            <a:avLst/>
            <a:gdLst/>
            <a:ahLst/>
            <a:cxnLst/>
            <a:rect l="l" t="t" r="r" b="b"/>
            <a:pathLst>
              <a:path w="702945" h="256540">
                <a:moveTo>
                  <a:pt x="486341" y="88878"/>
                </a:moveTo>
                <a:lnTo>
                  <a:pt x="462349" y="88878"/>
                </a:lnTo>
                <a:lnTo>
                  <a:pt x="463918" y="92454"/>
                </a:lnTo>
                <a:lnTo>
                  <a:pt x="463911" y="92590"/>
                </a:lnTo>
                <a:lnTo>
                  <a:pt x="506242" y="193487"/>
                </a:lnTo>
                <a:lnTo>
                  <a:pt x="500693" y="205756"/>
                </a:lnTo>
                <a:lnTo>
                  <a:pt x="494856" y="218235"/>
                </a:lnTo>
                <a:lnTo>
                  <a:pt x="489879" y="228556"/>
                </a:lnTo>
                <a:lnTo>
                  <a:pt x="485259" y="237769"/>
                </a:lnTo>
                <a:lnTo>
                  <a:pt x="485080" y="238034"/>
                </a:lnTo>
                <a:lnTo>
                  <a:pt x="483201" y="241791"/>
                </a:lnTo>
                <a:lnTo>
                  <a:pt x="481591" y="244752"/>
                </a:lnTo>
                <a:lnTo>
                  <a:pt x="480428" y="246696"/>
                </a:lnTo>
                <a:lnTo>
                  <a:pt x="475149" y="256419"/>
                </a:lnTo>
                <a:lnTo>
                  <a:pt x="497474" y="256419"/>
                </a:lnTo>
                <a:lnTo>
                  <a:pt x="509723" y="228211"/>
                </a:lnTo>
                <a:lnTo>
                  <a:pt x="527828" y="185314"/>
                </a:lnTo>
                <a:lnTo>
                  <a:pt x="533038" y="172849"/>
                </a:lnTo>
                <a:lnTo>
                  <a:pt x="520067" y="172849"/>
                </a:lnTo>
                <a:lnTo>
                  <a:pt x="517051" y="162907"/>
                </a:lnTo>
                <a:lnTo>
                  <a:pt x="486341" y="88878"/>
                </a:lnTo>
                <a:close/>
              </a:path>
              <a:path w="702945" h="256540">
                <a:moveTo>
                  <a:pt x="485080" y="238034"/>
                </a:moveTo>
                <a:lnTo>
                  <a:pt x="480401" y="246696"/>
                </a:lnTo>
                <a:lnTo>
                  <a:pt x="485080" y="238034"/>
                </a:lnTo>
                <a:close/>
              </a:path>
              <a:path w="702945" h="256540">
                <a:moveTo>
                  <a:pt x="307237" y="51002"/>
                </a:moveTo>
                <a:lnTo>
                  <a:pt x="303563" y="51002"/>
                </a:lnTo>
                <a:lnTo>
                  <a:pt x="299985" y="51308"/>
                </a:lnTo>
                <a:lnTo>
                  <a:pt x="296454" y="51886"/>
                </a:lnTo>
                <a:lnTo>
                  <a:pt x="168671" y="51886"/>
                </a:lnTo>
                <a:lnTo>
                  <a:pt x="168671" y="66915"/>
                </a:lnTo>
                <a:lnTo>
                  <a:pt x="262760" y="66915"/>
                </a:lnTo>
                <a:lnTo>
                  <a:pt x="249873" y="79991"/>
                </a:lnTo>
                <a:lnTo>
                  <a:pt x="240012" y="96026"/>
                </a:lnTo>
                <a:lnTo>
                  <a:pt x="233708" y="114432"/>
                </a:lnTo>
                <a:lnTo>
                  <a:pt x="231497" y="134660"/>
                </a:lnTo>
                <a:lnTo>
                  <a:pt x="237442" y="167168"/>
                </a:lnTo>
                <a:lnTo>
                  <a:pt x="253675" y="193746"/>
                </a:lnTo>
                <a:lnTo>
                  <a:pt x="277753" y="211664"/>
                </a:lnTo>
                <a:lnTo>
                  <a:pt x="307238" y="218235"/>
                </a:lnTo>
                <a:lnTo>
                  <a:pt x="336719" y="211664"/>
                </a:lnTo>
                <a:lnTo>
                  <a:pt x="347488" y="203649"/>
                </a:lnTo>
                <a:lnTo>
                  <a:pt x="307548" y="203649"/>
                </a:lnTo>
                <a:lnTo>
                  <a:pt x="287305" y="198649"/>
                </a:lnTo>
                <a:lnTo>
                  <a:pt x="270593" y="184350"/>
                </a:lnTo>
                <a:lnTo>
                  <a:pt x="259116" y="162907"/>
                </a:lnTo>
                <a:lnTo>
                  <a:pt x="254577" y="136475"/>
                </a:lnTo>
                <a:lnTo>
                  <a:pt x="258199" y="109897"/>
                </a:lnTo>
                <a:lnTo>
                  <a:pt x="268920" y="88060"/>
                </a:lnTo>
                <a:lnTo>
                  <a:pt x="285120" y="73183"/>
                </a:lnTo>
                <a:lnTo>
                  <a:pt x="305174" y="67486"/>
                </a:lnTo>
                <a:lnTo>
                  <a:pt x="351620" y="67486"/>
                </a:lnTo>
                <a:lnTo>
                  <a:pt x="348413" y="64416"/>
                </a:lnTo>
                <a:lnTo>
                  <a:pt x="329077" y="54527"/>
                </a:lnTo>
                <a:lnTo>
                  <a:pt x="307237" y="51002"/>
                </a:lnTo>
                <a:close/>
              </a:path>
              <a:path w="702945" h="256540">
                <a:moveTo>
                  <a:pt x="549687" y="178947"/>
                </a:moveTo>
                <a:lnTo>
                  <a:pt x="568124" y="215014"/>
                </a:lnTo>
                <a:lnTo>
                  <a:pt x="593174" y="218147"/>
                </a:lnTo>
                <a:lnTo>
                  <a:pt x="611232" y="216330"/>
                </a:lnTo>
                <a:lnTo>
                  <a:pt x="631376" y="209318"/>
                </a:lnTo>
                <a:lnTo>
                  <a:pt x="638402" y="202990"/>
                </a:lnTo>
                <a:lnTo>
                  <a:pt x="600510" y="202990"/>
                </a:lnTo>
                <a:lnTo>
                  <a:pt x="587218" y="201532"/>
                </a:lnTo>
                <a:lnTo>
                  <a:pt x="574942" y="197199"/>
                </a:lnTo>
                <a:lnTo>
                  <a:pt x="563101" y="190048"/>
                </a:lnTo>
                <a:lnTo>
                  <a:pt x="549687" y="178947"/>
                </a:lnTo>
                <a:close/>
              </a:path>
              <a:path w="702945" h="256540">
                <a:moveTo>
                  <a:pt x="376312" y="181333"/>
                </a:moveTo>
                <a:lnTo>
                  <a:pt x="393993" y="215157"/>
                </a:lnTo>
                <a:lnTo>
                  <a:pt x="416536" y="217660"/>
                </a:lnTo>
                <a:lnTo>
                  <a:pt x="434595" y="215844"/>
                </a:lnTo>
                <a:lnTo>
                  <a:pt x="454739" y="208832"/>
                </a:lnTo>
                <a:lnTo>
                  <a:pt x="461813" y="202459"/>
                </a:lnTo>
                <a:lnTo>
                  <a:pt x="423831" y="202459"/>
                </a:lnTo>
                <a:lnTo>
                  <a:pt x="411027" y="201122"/>
                </a:lnTo>
                <a:lnTo>
                  <a:pt x="399183" y="197132"/>
                </a:lnTo>
                <a:lnTo>
                  <a:pt x="387784" y="190524"/>
                </a:lnTo>
                <a:lnTo>
                  <a:pt x="376312" y="181333"/>
                </a:lnTo>
                <a:close/>
              </a:path>
              <a:path w="702945" h="256540">
                <a:moveTo>
                  <a:pt x="211490" y="66915"/>
                </a:moveTo>
                <a:lnTo>
                  <a:pt x="188718" y="66915"/>
                </a:lnTo>
                <a:lnTo>
                  <a:pt x="188718" y="211826"/>
                </a:lnTo>
                <a:lnTo>
                  <a:pt x="211490" y="211826"/>
                </a:lnTo>
                <a:lnTo>
                  <a:pt x="211490" y="66915"/>
                </a:lnTo>
                <a:close/>
              </a:path>
              <a:path w="702945" h="256540">
                <a:moveTo>
                  <a:pt x="351620" y="67486"/>
                </a:moveTo>
                <a:lnTo>
                  <a:pt x="305174" y="67486"/>
                </a:lnTo>
                <a:lnTo>
                  <a:pt x="325437" y="72490"/>
                </a:lnTo>
                <a:lnTo>
                  <a:pt x="342147" y="86790"/>
                </a:lnTo>
                <a:lnTo>
                  <a:pt x="353615" y="108232"/>
                </a:lnTo>
                <a:lnTo>
                  <a:pt x="358150" y="134660"/>
                </a:lnTo>
                <a:lnTo>
                  <a:pt x="354528" y="161222"/>
                </a:lnTo>
                <a:lnTo>
                  <a:pt x="343804" y="183062"/>
                </a:lnTo>
                <a:lnTo>
                  <a:pt x="327603" y="197949"/>
                </a:lnTo>
                <a:lnTo>
                  <a:pt x="307548" y="203649"/>
                </a:lnTo>
                <a:lnTo>
                  <a:pt x="347488" y="203649"/>
                </a:lnTo>
                <a:lnTo>
                  <a:pt x="360795" y="193746"/>
                </a:lnTo>
                <a:lnTo>
                  <a:pt x="377028" y="167168"/>
                </a:lnTo>
                <a:lnTo>
                  <a:pt x="382973" y="134660"/>
                </a:lnTo>
                <a:lnTo>
                  <a:pt x="382980" y="129140"/>
                </a:lnTo>
                <a:lnTo>
                  <a:pt x="382491" y="123744"/>
                </a:lnTo>
                <a:lnTo>
                  <a:pt x="381596" y="118530"/>
                </a:lnTo>
                <a:lnTo>
                  <a:pt x="423268" y="118530"/>
                </a:lnTo>
                <a:lnTo>
                  <a:pt x="416690" y="115356"/>
                </a:lnTo>
                <a:lnTo>
                  <a:pt x="404937" y="108690"/>
                </a:lnTo>
                <a:lnTo>
                  <a:pt x="398401" y="101653"/>
                </a:lnTo>
                <a:lnTo>
                  <a:pt x="397908" y="99176"/>
                </a:lnTo>
                <a:lnTo>
                  <a:pt x="375864" y="99176"/>
                </a:lnTo>
                <a:lnTo>
                  <a:pt x="364318" y="79642"/>
                </a:lnTo>
                <a:lnTo>
                  <a:pt x="351620" y="67486"/>
                </a:lnTo>
                <a:close/>
              </a:path>
              <a:path w="702945" h="256540">
                <a:moveTo>
                  <a:pt x="590558" y="114111"/>
                </a:moveTo>
                <a:lnTo>
                  <a:pt x="557512" y="114111"/>
                </a:lnTo>
                <a:lnTo>
                  <a:pt x="563480" y="124168"/>
                </a:lnTo>
                <a:lnTo>
                  <a:pt x="572531" y="131907"/>
                </a:lnTo>
                <a:lnTo>
                  <a:pt x="584576" y="138494"/>
                </a:lnTo>
                <a:lnTo>
                  <a:pt x="599525" y="145094"/>
                </a:lnTo>
                <a:lnTo>
                  <a:pt x="614735" y="152132"/>
                </a:lnTo>
                <a:lnTo>
                  <a:pt x="625906" y="159378"/>
                </a:lnTo>
                <a:lnTo>
                  <a:pt x="632790" y="167503"/>
                </a:lnTo>
                <a:lnTo>
                  <a:pt x="635139" y="177179"/>
                </a:lnTo>
                <a:lnTo>
                  <a:pt x="632308" y="188426"/>
                </a:lnTo>
                <a:lnTo>
                  <a:pt x="624705" y="196529"/>
                </a:lnTo>
                <a:lnTo>
                  <a:pt x="613661" y="201410"/>
                </a:lnTo>
                <a:lnTo>
                  <a:pt x="600510" y="202990"/>
                </a:lnTo>
                <a:lnTo>
                  <a:pt x="638402" y="202990"/>
                </a:lnTo>
                <a:lnTo>
                  <a:pt x="647753" y="194567"/>
                </a:lnTo>
                <a:lnTo>
                  <a:pt x="654512" y="169532"/>
                </a:lnTo>
                <a:lnTo>
                  <a:pt x="650842" y="153370"/>
                </a:lnTo>
                <a:lnTo>
                  <a:pt x="641157" y="141260"/>
                </a:lnTo>
                <a:lnTo>
                  <a:pt x="627243" y="131983"/>
                </a:lnTo>
                <a:lnTo>
                  <a:pt x="610888" y="124321"/>
                </a:lnTo>
                <a:lnTo>
                  <a:pt x="593518" y="115845"/>
                </a:lnTo>
                <a:lnTo>
                  <a:pt x="590558" y="114111"/>
                </a:lnTo>
                <a:close/>
              </a:path>
              <a:path w="702945" h="256540">
                <a:moveTo>
                  <a:pt x="423268" y="118530"/>
                </a:moveTo>
                <a:lnTo>
                  <a:pt x="381596" y="118530"/>
                </a:lnTo>
                <a:lnTo>
                  <a:pt x="388494" y="126495"/>
                </a:lnTo>
                <a:lnTo>
                  <a:pt x="397796" y="132959"/>
                </a:lnTo>
                <a:lnTo>
                  <a:pt x="409320" y="138728"/>
                </a:lnTo>
                <a:lnTo>
                  <a:pt x="422888" y="144605"/>
                </a:lnTo>
                <a:lnTo>
                  <a:pt x="438098" y="151644"/>
                </a:lnTo>
                <a:lnTo>
                  <a:pt x="449268" y="158891"/>
                </a:lnTo>
                <a:lnTo>
                  <a:pt x="456152" y="167017"/>
                </a:lnTo>
                <a:lnTo>
                  <a:pt x="458502" y="176690"/>
                </a:lnTo>
                <a:lnTo>
                  <a:pt x="455664" y="187933"/>
                </a:lnTo>
                <a:lnTo>
                  <a:pt x="448044" y="196021"/>
                </a:lnTo>
                <a:lnTo>
                  <a:pt x="436986" y="200887"/>
                </a:lnTo>
                <a:lnTo>
                  <a:pt x="423831" y="202459"/>
                </a:lnTo>
                <a:lnTo>
                  <a:pt x="461813" y="202459"/>
                </a:lnTo>
                <a:lnTo>
                  <a:pt x="471115" y="194080"/>
                </a:lnTo>
                <a:lnTo>
                  <a:pt x="477875" y="169043"/>
                </a:lnTo>
                <a:lnTo>
                  <a:pt x="474187" y="152881"/>
                </a:lnTo>
                <a:lnTo>
                  <a:pt x="464504" y="140771"/>
                </a:lnTo>
                <a:lnTo>
                  <a:pt x="450603" y="131494"/>
                </a:lnTo>
                <a:lnTo>
                  <a:pt x="434256" y="123832"/>
                </a:lnTo>
                <a:lnTo>
                  <a:pt x="423268" y="118530"/>
                </a:lnTo>
                <a:close/>
              </a:path>
              <a:path w="702945" h="256540">
                <a:moveTo>
                  <a:pt x="611693" y="52463"/>
                </a:moveTo>
                <a:lnTo>
                  <a:pt x="563432" y="69589"/>
                </a:lnTo>
                <a:lnTo>
                  <a:pt x="523425" y="162945"/>
                </a:lnTo>
                <a:lnTo>
                  <a:pt x="520067" y="172849"/>
                </a:lnTo>
                <a:lnTo>
                  <a:pt x="533038" y="172849"/>
                </a:lnTo>
                <a:lnTo>
                  <a:pt x="557512" y="114111"/>
                </a:lnTo>
                <a:lnTo>
                  <a:pt x="590558" y="114111"/>
                </a:lnTo>
                <a:lnTo>
                  <a:pt x="582149" y="109184"/>
                </a:lnTo>
                <a:lnTo>
                  <a:pt x="575991" y="102159"/>
                </a:lnTo>
                <a:lnTo>
                  <a:pt x="574248" y="92590"/>
                </a:lnTo>
                <a:lnTo>
                  <a:pt x="577125" y="79722"/>
                </a:lnTo>
                <a:lnTo>
                  <a:pt x="584515" y="71495"/>
                </a:lnTo>
                <a:lnTo>
                  <a:pt x="594557" y="67130"/>
                </a:lnTo>
                <a:lnTo>
                  <a:pt x="605388" y="65848"/>
                </a:lnTo>
                <a:lnTo>
                  <a:pt x="645833" y="65848"/>
                </a:lnTo>
                <a:lnTo>
                  <a:pt x="645833" y="57942"/>
                </a:lnTo>
                <a:lnTo>
                  <a:pt x="637461" y="55402"/>
                </a:lnTo>
                <a:lnTo>
                  <a:pt x="629318" y="53693"/>
                </a:lnTo>
                <a:lnTo>
                  <a:pt x="620897" y="52740"/>
                </a:lnTo>
                <a:lnTo>
                  <a:pt x="611693" y="52463"/>
                </a:lnTo>
                <a:close/>
              </a:path>
              <a:path w="702945" h="256540">
                <a:moveTo>
                  <a:pt x="437298" y="51974"/>
                </a:moveTo>
                <a:lnTo>
                  <a:pt x="435061" y="51974"/>
                </a:lnTo>
                <a:lnTo>
                  <a:pt x="413024" y="54368"/>
                </a:lnTo>
                <a:lnTo>
                  <a:pt x="394031" y="61945"/>
                </a:lnTo>
                <a:lnTo>
                  <a:pt x="380710" y="75099"/>
                </a:lnTo>
                <a:lnTo>
                  <a:pt x="375685" y="94222"/>
                </a:lnTo>
                <a:lnTo>
                  <a:pt x="375690" y="96026"/>
                </a:lnTo>
                <a:lnTo>
                  <a:pt x="375864" y="99176"/>
                </a:lnTo>
                <a:lnTo>
                  <a:pt x="397908" y="99176"/>
                </a:lnTo>
                <a:lnTo>
                  <a:pt x="396489" y="92059"/>
                </a:lnTo>
                <a:lnTo>
                  <a:pt x="399541" y="79219"/>
                </a:lnTo>
                <a:lnTo>
                  <a:pt x="407311" y="71006"/>
                </a:lnTo>
                <a:lnTo>
                  <a:pt x="417724" y="66646"/>
                </a:lnTo>
                <a:lnTo>
                  <a:pt x="428703" y="65365"/>
                </a:lnTo>
                <a:lnTo>
                  <a:pt x="476663" y="65365"/>
                </a:lnTo>
                <a:lnTo>
                  <a:pt x="473490" y="57677"/>
                </a:lnTo>
                <a:lnTo>
                  <a:pt x="465606" y="55762"/>
                </a:lnTo>
                <a:lnTo>
                  <a:pt x="456489" y="53888"/>
                </a:lnTo>
                <a:lnTo>
                  <a:pt x="447103" y="52495"/>
                </a:lnTo>
                <a:lnTo>
                  <a:pt x="437298" y="51974"/>
                </a:lnTo>
                <a:close/>
              </a:path>
              <a:path w="702945" h="256540">
                <a:moveTo>
                  <a:pt x="463244" y="90999"/>
                </a:moveTo>
                <a:lnTo>
                  <a:pt x="463854" y="92454"/>
                </a:lnTo>
                <a:lnTo>
                  <a:pt x="463244" y="90999"/>
                </a:lnTo>
                <a:close/>
              </a:path>
              <a:path w="702945" h="256540">
                <a:moveTo>
                  <a:pt x="476663" y="65365"/>
                </a:moveTo>
                <a:lnTo>
                  <a:pt x="434883" y="65365"/>
                </a:lnTo>
                <a:lnTo>
                  <a:pt x="440161" y="66202"/>
                </a:lnTo>
                <a:lnTo>
                  <a:pt x="445171" y="67887"/>
                </a:lnTo>
                <a:lnTo>
                  <a:pt x="454434" y="71286"/>
                </a:lnTo>
                <a:lnTo>
                  <a:pt x="458315" y="79991"/>
                </a:lnTo>
                <a:lnTo>
                  <a:pt x="460786" y="85608"/>
                </a:lnTo>
                <a:lnTo>
                  <a:pt x="462280" y="88878"/>
                </a:lnTo>
                <a:lnTo>
                  <a:pt x="462933" y="90380"/>
                </a:lnTo>
                <a:lnTo>
                  <a:pt x="463244" y="90999"/>
                </a:lnTo>
                <a:lnTo>
                  <a:pt x="462349" y="88878"/>
                </a:lnTo>
                <a:lnTo>
                  <a:pt x="486341" y="88878"/>
                </a:lnTo>
                <a:lnTo>
                  <a:pt x="482932" y="80654"/>
                </a:lnTo>
                <a:lnTo>
                  <a:pt x="482533" y="79642"/>
                </a:lnTo>
                <a:lnTo>
                  <a:pt x="482169" y="78886"/>
                </a:lnTo>
                <a:lnTo>
                  <a:pt x="481896" y="78049"/>
                </a:lnTo>
                <a:lnTo>
                  <a:pt x="476663" y="65365"/>
                </a:lnTo>
                <a:close/>
              </a:path>
              <a:path w="702945" h="256540">
                <a:moveTo>
                  <a:pt x="645833" y="65848"/>
                </a:moveTo>
                <a:lnTo>
                  <a:pt x="605388" y="65848"/>
                </a:lnTo>
                <a:lnTo>
                  <a:pt x="616507" y="66926"/>
                </a:lnTo>
                <a:lnTo>
                  <a:pt x="626331" y="70059"/>
                </a:lnTo>
                <a:lnTo>
                  <a:pt x="635795" y="75099"/>
                </a:lnTo>
                <a:lnTo>
                  <a:pt x="645833" y="81897"/>
                </a:lnTo>
                <a:lnTo>
                  <a:pt x="645833" y="65848"/>
                </a:lnTo>
                <a:close/>
              </a:path>
              <a:path w="702945" h="256540">
                <a:moveTo>
                  <a:pt x="237173" y="4241"/>
                </a:moveTo>
                <a:lnTo>
                  <a:pt x="218865" y="7403"/>
                </a:lnTo>
                <a:lnTo>
                  <a:pt x="204174" y="16644"/>
                </a:lnTo>
                <a:lnTo>
                  <a:pt x="193946" y="31594"/>
                </a:lnTo>
                <a:lnTo>
                  <a:pt x="189028" y="51886"/>
                </a:lnTo>
                <a:lnTo>
                  <a:pt x="211222" y="51886"/>
                </a:lnTo>
                <a:lnTo>
                  <a:pt x="211006" y="37698"/>
                </a:lnTo>
                <a:lnTo>
                  <a:pt x="215069" y="27209"/>
                </a:lnTo>
                <a:lnTo>
                  <a:pt x="222620" y="20706"/>
                </a:lnTo>
                <a:lnTo>
                  <a:pt x="232873" y="18475"/>
                </a:lnTo>
                <a:lnTo>
                  <a:pt x="269113" y="18475"/>
                </a:lnTo>
                <a:lnTo>
                  <a:pt x="269112" y="8489"/>
                </a:lnTo>
                <a:lnTo>
                  <a:pt x="264249" y="6779"/>
                </a:lnTo>
                <a:lnTo>
                  <a:pt x="257540" y="5435"/>
                </a:lnTo>
                <a:lnTo>
                  <a:pt x="248632" y="4556"/>
                </a:lnTo>
                <a:lnTo>
                  <a:pt x="237173" y="4241"/>
                </a:lnTo>
                <a:close/>
              </a:path>
              <a:path w="702945" h="256540">
                <a:moveTo>
                  <a:pt x="269113" y="18475"/>
                </a:moveTo>
                <a:lnTo>
                  <a:pt x="232873" y="18475"/>
                </a:lnTo>
                <a:lnTo>
                  <a:pt x="245267" y="19442"/>
                </a:lnTo>
                <a:lnTo>
                  <a:pt x="254613" y="22180"/>
                </a:lnTo>
                <a:lnTo>
                  <a:pt x="261937" y="26335"/>
                </a:lnTo>
                <a:lnTo>
                  <a:pt x="268266" y="31554"/>
                </a:lnTo>
                <a:lnTo>
                  <a:pt x="269023" y="31554"/>
                </a:lnTo>
                <a:lnTo>
                  <a:pt x="269113" y="18475"/>
                </a:lnTo>
                <a:close/>
              </a:path>
              <a:path w="702945" h="256540">
                <a:moveTo>
                  <a:pt x="70598" y="53388"/>
                </a:moveTo>
                <a:lnTo>
                  <a:pt x="48409" y="53388"/>
                </a:lnTo>
                <a:lnTo>
                  <a:pt x="48409" y="211826"/>
                </a:lnTo>
                <a:lnTo>
                  <a:pt x="71183" y="211826"/>
                </a:lnTo>
                <a:lnTo>
                  <a:pt x="71182" y="95995"/>
                </a:lnTo>
                <a:lnTo>
                  <a:pt x="74984" y="85597"/>
                </a:lnTo>
                <a:lnTo>
                  <a:pt x="83883" y="76553"/>
                </a:lnTo>
                <a:lnTo>
                  <a:pt x="90971" y="72700"/>
                </a:lnTo>
                <a:lnTo>
                  <a:pt x="70825" y="72700"/>
                </a:lnTo>
                <a:lnTo>
                  <a:pt x="70750" y="63653"/>
                </a:lnTo>
                <a:lnTo>
                  <a:pt x="70598" y="53388"/>
                </a:lnTo>
                <a:close/>
              </a:path>
              <a:path w="702945" h="256540">
                <a:moveTo>
                  <a:pt x="155415" y="67751"/>
                </a:moveTo>
                <a:lnTo>
                  <a:pt x="107959" y="67751"/>
                </a:lnTo>
                <a:lnTo>
                  <a:pt x="121378" y="69999"/>
                </a:lnTo>
                <a:lnTo>
                  <a:pt x="132360" y="76253"/>
                </a:lnTo>
                <a:lnTo>
                  <a:pt x="139776" y="85781"/>
                </a:lnTo>
                <a:lnTo>
                  <a:pt x="142499" y="97851"/>
                </a:lnTo>
                <a:lnTo>
                  <a:pt x="142500" y="211826"/>
                </a:lnTo>
                <a:lnTo>
                  <a:pt x="165230" y="211826"/>
                </a:lnTo>
                <a:lnTo>
                  <a:pt x="165182" y="87594"/>
                </a:lnTo>
                <a:lnTo>
                  <a:pt x="161714" y="76014"/>
                </a:lnTo>
                <a:lnTo>
                  <a:pt x="155415" y="67751"/>
                </a:lnTo>
                <a:close/>
              </a:path>
              <a:path w="702945" h="256540">
                <a:moveTo>
                  <a:pt x="120801" y="51308"/>
                </a:moveTo>
                <a:lnTo>
                  <a:pt x="79772" y="63653"/>
                </a:lnTo>
                <a:lnTo>
                  <a:pt x="71093" y="72700"/>
                </a:lnTo>
                <a:lnTo>
                  <a:pt x="90971" y="72700"/>
                </a:lnTo>
                <a:lnTo>
                  <a:pt x="95626" y="70169"/>
                </a:lnTo>
                <a:lnTo>
                  <a:pt x="107959" y="67751"/>
                </a:lnTo>
                <a:lnTo>
                  <a:pt x="155415" y="67751"/>
                </a:lnTo>
                <a:lnTo>
                  <a:pt x="152705" y="64197"/>
                </a:lnTo>
                <a:lnTo>
                  <a:pt x="138839" y="55008"/>
                </a:lnTo>
                <a:lnTo>
                  <a:pt x="120801" y="51308"/>
                </a:lnTo>
                <a:close/>
              </a:path>
              <a:path w="702945" h="256540">
                <a:moveTo>
                  <a:pt x="25189" y="4948"/>
                </a:moveTo>
                <a:lnTo>
                  <a:pt x="0" y="4948"/>
                </a:lnTo>
                <a:lnTo>
                  <a:pt x="0" y="211826"/>
                </a:lnTo>
                <a:lnTo>
                  <a:pt x="25234" y="211826"/>
                </a:lnTo>
                <a:lnTo>
                  <a:pt x="25189" y="4948"/>
                </a:lnTo>
                <a:close/>
              </a:path>
              <a:path w="702945" h="256540">
                <a:moveTo>
                  <a:pt x="683365" y="0"/>
                </a:moveTo>
                <a:lnTo>
                  <a:pt x="679434" y="0"/>
                </a:lnTo>
                <a:lnTo>
                  <a:pt x="673148" y="1262"/>
                </a:lnTo>
                <a:lnTo>
                  <a:pt x="666375" y="5775"/>
                </a:lnTo>
                <a:lnTo>
                  <a:pt x="661792" y="12450"/>
                </a:lnTo>
                <a:lnTo>
                  <a:pt x="660216" y="20066"/>
                </a:lnTo>
                <a:lnTo>
                  <a:pt x="660161" y="20861"/>
                </a:lnTo>
                <a:lnTo>
                  <a:pt x="661792" y="28804"/>
                </a:lnTo>
                <a:lnTo>
                  <a:pt x="666375" y="35490"/>
                </a:lnTo>
                <a:lnTo>
                  <a:pt x="673148" y="39988"/>
                </a:lnTo>
                <a:lnTo>
                  <a:pt x="681399" y="41634"/>
                </a:lnTo>
                <a:lnTo>
                  <a:pt x="689654" y="39988"/>
                </a:lnTo>
                <a:lnTo>
                  <a:pt x="691832" y="38541"/>
                </a:lnTo>
                <a:lnTo>
                  <a:pt x="681399" y="38541"/>
                </a:lnTo>
                <a:lnTo>
                  <a:pt x="674354" y="37129"/>
                </a:lnTo>
                <a:lnTo>
                  <a:pt x="668579" y="33280"/>
                </a:lnTo>
                <a:lnTo>
                  <a:pt x="664673" y="27576"/>
                </a:lnTo>
                <a:lnTo>
                  <a:pt x="663292" y="20861"/>
                </a:lnTo>
                <a:lnTo>
                  <a:pt x="663347" y="20066"/>
                </a:lnTo>
                <a:lnTo>
                  <a:pt x="664673" y="13641"/>
                </a:lnTo>
                <a:lnTo>
                  <a:pt x="668579" y="7951"/>
                </a:lnTo>
                <a:lnTo>
                  <a:pt x="674354" y="4108"/>
                </a:lnTo>
                <a:lnTo>
                  <a:pt x="681399" y="2698"/>
                </a:lnTo>
                <a:lnTo>
                  <a:pt x="686082" y="2698"/>
                </a:lnTo>
                <a:lnTo>
                  <a:pt x="683365" y="0"/>
                </a:lnTo>
                <a:close/>
              </a:path>
              <a:path w="702945" h="256540">
                <a:moveTo>
                  <a:pt x="698344" y="14874"/>
                </a:moveTo>
                <a:lnTo>
                  <a:pt x="699410" y="20066"/>
                </a:lnTo>
                <a:lnTo>
                  <a:pt x="699465" y="20861"/>
                </a:lnTo>
                <a:lnTo>
                  <a:pt x="698091" y="27576"/>
                </a:lnTo>
                <a:lnTo>
                  <a:pt x="694201" y="33280"/>
                </a:lnTo>
                <a:lnTo>
                  <a:pt x="688440" y="37129"/>
                </a:lnTo>
                <a:lnTo>
                  <a:pt x="681399" y="38541"/>
                </a:lnTo>
                <a:lnTo>
                  <a:pt x="691832" y="38541"/>
                </a:lnTo>
                <a:lnTo>
                  <a:pt x="696428" y="35490"/>
                </a:lnTo>
                <a:lnTo>
                  <a:pt x="701013" y="28804"/>
                </a:lnTo>
                <a:lnTo>
                  <a:pt x="702334" y="22370"/>
                </a:lnTo>
                <a:lnTo>
                  <a:pt x="702334" y="18835"/>
                </a:lnTo>
                <a:lnTo>
                  <a:pt x="698344" y="14874"/>
                </a:lnTo>
                <a:close/>
              </a:path>
              <a:path w="702945" h="256540">
                <a:moveTo>
                  <a:pt x="685115" y="8972"/>
                </a:moveTo>
                <a:lnTo>
                  <a:pt x="673305" y="8972"/>
                </a:lnTo>
                <a:lnTo>
                  <a:pt x="673305" y="31201"/>
                </a:lnTo>
                <a:lnTo>
                  <a:pt x="677421" y="31201"/>
                </a:lnTo>
                <a:lnTo>
                  <a:pt x="677421" y="22234"/>
                </a:lnTo>
                <a:lnTo>
                  <a:pt x="686370" y="22234"/>
                </a:lnTo>
                <a:lnTo>
                  <a:pt x="686099" y="21609"/>
                </a:lnTo>
                <a:lnTo>
                  <a:pt x="687578" y="20861"/>
                </a:lnTo>
                <a:lnTo>
                  <a:pt x="689994" y="20066"/>
                </a:lnTo>
                <a:lnTo>
                  <a:pt x="689994" y="18605"/>
                </a:lnTo>
                <a:lnTo>
                  <a:pt x="677421" y="18605"/>
                </a:lnTo>
                <a:lnTo>
                  <a:pt x="677421" y="12819"/>
                </a:lnTo>
                <a:lnTo>
                  <a:pt x="689994" y="12819"/>
                </a:lnTo>
                <a:lnTo>
                  <a:pt x="689994" y="9679"/>
                </a:lnTo>
                <a:lnTo>
                  <a:pt x="685115" y="8972"/>
                </a:lnTo>
                <a:close/>
              </a:path>
              <a:path w="702945" h="256540">
                <a:moveTo>
                  <a:pt x="686370" y="22234"/>
                </a:moveTo>
                <a:lnTo>
                  <a:pt x="682204" y="22234"/>
                </a:lnTo>
                <a:lnTo>
                  <a:pt x="685741" y="31201"/>
                </a:lnTo>
                <a:lnTo>
                  <a:pt x="690262" y="31201"/>
                </a:lnTo>
                <a:lnTo>
                  <a:pt x="686370" y="22234"/>
                </a:lnTo>
                <a:close/>
              </a:path>
              <a:path w="702945" h="256540">
                <a:moveTo>
                  <a:pt x="683365" y="0"/>
                </a:moveTo>
                <a:lnTo>
                  <a:pt x="687266" y="3873"/>
                </a:lnTo>
                <a:lnTo>
                  <a:pt x="688440" y="4108"/>
                </a:lnTo>
                <a:lnTo>
                  <a:pt x="694201" y="7951"/>
                </a:lnTo>
                <a:lnTo>
                  <a:pt x="698091" y="13641"/>
                </a:lnTo>
                <a:lnTo>
                  <a:pt x="698344" y="14874"/>
                </a:lnTo>
                <a:lnTo>
                  <a:pt x="702334" y="18835"/>
                </a:lnTo>
                <a:lnTo>
                  <a:pt x="701012" y="12450"/>
                </a:lnTo>
                <a:lnTo>
                  <a:pt x="696428" y="5775"/>
                </a:lnTo>
                <a:lnTo>
                  <a:pt x="689654" y="1262"/>
                </a:lnTo>
                <a:lnTo>
                  <a:pt x="683365" y="0"/>
                </a:lnTo>
                <a:close/>
              </a:path>
              <a:path w="702945" h="256540">
                <a:moveTo>
                  <a:pt x="702334" y="0"/>
                </a:moveTo>
                <a:lnTo>
                  <a:pt x="683365" y="0"/>
                </a:lnTo>
                <a:lnTo>
                  <a:pt x="689654" y="1262"/>
                </a:lnTo>
                <a:lnTo>
                  <a:pt x="696428" y="5775"/>
                </a:lnTo>
                <a:lnTo>
                  <a:pt x="701012" y="12450"/>
                </a:lnTo>
                <a:lnTo>
                  <a:pt x="702334" y="18835"/>
                </a:lnTo>
                <a:lnTo>
                  <a:pt x="702334" y="0"/>
                </a:lnTo>
                <a:close/>
              </a:path>
              <a:path w="702945" h="256540">
                <a:moveTo>
                  <a:pt x="689994" y="12819"/>
                </a:moveTo>
                <a:lnTo>
                  <a:pt x="684399" y="12819"/>
                </a:lnTo>
                <a:lnTo>
                  <a:pt x="685741" y="13791"/>
                </a:lnTo>
                <a:lnTo>
                  <a:pt x="685741" y="17768"/>
                </a:lnTo>
                <a:lnTo>
                  <a:pt x="684220" y="18605"/>
                </a:lnTo>
                <a:lnTo>
                  <a:pt x="689994" y="18605"/>
                </a:lnTo>
                <a:lnTo>
                  <a:pt x="689994" y="12819"/>
                </a:lnTo>
                <a:close/>
              </a:path>
              <a:path w="702945" h="256540">
                <a:moveTo>
                  <a:pt x="687266" y="3873"/>
                </a:moveTo>
                <a:lnTo>
                  <a:pt x="698344" y="14874"/>
                </a:lnTo>
                <a:lnTo>
                  <a:pt x="698091" y="13641"/>
                </a:lnTo>
                <a:lnTo>
                  <a:pt x="694201" y="7951"/>
                </a:lnTo>
                <a:lnTo>
                  <a:pt x="688440" y="4108"/>
                </a:lnTo>
                <a:lnTo>
                  <a:pt x="687266" y="3873"/>
                </a:lnTo>
                <a:close/>
              </a:path>
              <a:path w="702945" h="256540">
                <a:moveTo>
                  <a:pt x="686082" y="2698"/>
                </a:moveTo>
                <a:lnTo>
                  <a:pt x="681399" y="2698"/>
                </a:lnTo>
                <a:lnTo>
                  <a:pt x="687266" y="3873"/>
                </a:lnTo>
                <a:lnTo>
                  <a:pt x="686082" y="2698"/>
                </a:lnTo>
                <a:close/>
              </a:path>
            </a:pathLst>
          </a:custGeom>
          <a:solidFill>
            <a:srgbClr val="2C7AC6"/>
          </a:solidFill>
        </p:spPr>
        <p:txBody>
          <a:bodyPr wrap="square" lIns="0" tIns="0" rIns="0" bIns="0" rtlCol="0"/>
          <a:lstStyle/>
          <a:p>
            <a:endParaRPr/>
          </a:p>
        </p:txBody>
      </p:sp>
      <p:sp>
        <p:nvSpPr>
          <p:cNvPr id="2" name="Holder 2"/>
          <p:cNvSpPr>
            <a:spLocks noGrp="1"/>
          </p:cNvSpPr>
          <p:nvPr>
            <p:ph type="title"/>
          </p:nvPr>
        </p:nvSpPr>
        <p:spPr>
          <a:xfrm>
            <a:off x="400126" y="282787"/>
            <a:ext cx="7348061" cy="346249"/>
          </a:xfrm>
          <a:prstGeom prst="rect">
            <a:avLst/>
          </a:prstGeom>
        </p:spPr>
        <p:txBody>
          <a:bodyPr wrap="square" lIns="0" tIns="0" rIns="0" bIns="0">
            <a:spAutoFit/>
          </a:bodyPr>
          <a:lstStyle>
            <a:lvl1pPr>
              <a:defRPr sz="2250" b="1" i="0">
                <a:solidFill>
                  <a:srgbClr val="4E396C"/>
                </a:solidFill>
                <a:latin typeface="Segoe UI"/>
                <a:cs typeface="Segoe UI"/>
              </a:defRPr>
            </a:lvl1pPr>
          </a:lstStyle>
          <a:p>
            <a:endParaRPr/>
          </a:p>
        </p:txBody>
      </p:sp>
      <p:sp>
        <p:nvSpPr>
          <p:cNvPr id="3" name="Holder 3"/>
          <p:cNvSpPr>
            <a:spLocks noGrp="1"/>
          </p:cNvSpPr>
          <p:nvPr>
            <p:ph type="body" idx="1"/>
          </p:nvPr>
        </p:nvSpPr>
        <p:spPr>
          <a:xfrm>
            <a:off x="432815" y="1096603"/>
            <a:ext cx="4575334" cy="307777"/>
          </a:xfrm>
          <a:prstGeom prst="rect">
            <a:avLst/>
          </a:prstGeom>
        </p:spPr>
        <p:txBody>
          <a:bodyPr wrap="square" lIns="0" tIns="0" rIns="0" bIns="0">
            <a:spAutoFit/>
          </a:bodyPr>
          <a:lstStyle>
            <a:lvl1pPr>
              <a:defRPr sz="2000" b="0" i="0">
                <a:solidFill>
                  <a:srgbClr val="4E396C"/>
                </a:solidFill>
                <a:latin typeface="Segoe UI"/>
                <a:cs typeface="Segoe UI"/>
              </a:defRPr>
            </a:lvl1pPr>
          </a:lstStyle>
          <a:p>
            <a:endParaRPr/>
          </a:p>
        </p:txBody>
      </p:sp>
      <p:sp>
        <p:nvSpPr>
          <p:cNvPr id="4" name="Holder 4"/>
          <p:cNvSpPr>
            <a:spLocks noGrp="1"/>
          </p:cNvSpPr>
          <p:nvPr>
            <p:ph type="ftr" sz="quarter" idx="5"/>
          </p:nvPr>
        </p:nvSpPr>
        <p:spPr>
          <a:xfrm>
            <a:off x="3108960" y="5314950"/>
            <a:ext cx="2926080" cy="2857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5314950"/>
            <a:ext cx="2103120" cy="28575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163906" y="5424623"/>
            <a:ext cx="128111" cy="398379"/>
          </a:xfrm>
          <a:prstGeom prst="rect">
            <a:avLst/>
          </a:prstGeom>
        </p:spPr>
        <p:txBody>
          <a:bodyPr wrap="square" lIns="0" tIns="0" rIns="0" bIns="0">
            <a:spAutoFit/>
          </a:bodyPr>
          <a:lstStyle>
            <a:lvl1pPr>
              <a:defRPr sz="863" b="0" i="0">
                <a:solidFill>
                  <a:srgbClr val="0D0D0D"/>
                </a:solidFill>
                <a:latin typeface="Segoe UI"/>
                <a:cs typeface="Segoe UI"/>
              </a:defRPr>
            </a:lvl1pPr>
          </a:lstStyle>
          <a:p>
            <a:pPr marL="28575">
              <a:spcBef>
                <a:spcPts val="180"/>
              </a:spcBef>
            </a:pPr>
            <a:fld id="{81D60167-4931-47E6-BA6A-407CBD079E47}" type="slidenum">
              <a:rPr lang="en-GB" spc="15" smtClean="0"/>
              <a:pPr marL="28575">
                <a:spcBef>
                  <a:spcPts val="180"/>
                </a:spcBef>
              </a:pPr>
              <a:t>‹#›</a:t>
            </a:fld>
            <a:endParaRPr lang="en-GB" spc="15" dirty="0"/>
          </a:p>
        </p:txBody>
      </p:sp>
    </p:spTree>
    <p:extLst>
      <p:ext uri="{BB962C8B-B14F-4D97-AF65-F5344CB8AC3E}">
        <p14:creationId xmlns:p14="http://schemas.microsoft.com/office/powerpoint/2010/main" val="1817544464"/>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8.xml"/><Relationship Id="rId5" Type="http://schemas.openxmlformats.org/officeDocument/2006/relationships/image" Target="../media/image9.svg"/><Relationship Id="rId4" Type="http://schemas.openxmlformats.org/officeDocument/2006/relationships/image" Target="../media/image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92BF5-9D8C-B674-7C08-2886ADA163DA}"/>
            </a:ext>
          </a:extLst>
        </p:cNvPr>
        <p:cNvGrpSpPr/>
        <p:nvPr/>
      </p:nvGrpSpPr>
      <p:grpSpPr>
        <a:xfrm>
          <a:off x="0" y="0"/>
          <a:ext cx="0" cy="0"/>
          <a:chOff x="0" y="0"/>
          <a:chExt cx="0" cy="0"/>
        </a:xfrm>
      </p:grpSpPr>
      <p:sp>
        <p:nvSpPr>
          <p:cNvPr id="58" name="Rectangle: Single Corner Rounded 57">
            <a:extLst>
              <a:ext uri="{FF2B5EF4-FFF2-40B4-BE49-F238E27FC236}">
                <a16:creationId xmlns:a16="http://schemas.microsoft.com/office/drawing/2014/main" id="{E1E08E6A-4C99-6852-EB9B-7382978E35C7}"/>
              </a:ext>
            </a:extLst>
          </p:cNvPr>
          <p:cNvSpPr/>
          <p:nvPr/>
        </p:nvSpPr>
        <p:spPr>
          <a:xfrm>
            <a:off x="243056" y="1603742"/>
            <a:ext cx="8717261" cy="4064592"/>
          </a:xfrm>
          <a:prstGeom prst="round1Rect">
            <a:avLst>
              <a:gd name="adj" fmla="val 11205"/>
            </a:avLst>
          </a:prstGeom>
          <a:solidFill>
            <a:schemeClr val="bg1">
              <a:lumMod val="9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defTabSz="457189" fontAlgn="auto" hangingPunct="0">
              <a:spcBef>
                <a:spcPts val="0"/>
              </a:spcBef>
              <a:spcAft>
                <a:spcPts val="0"/>
              </a:spcAft>
            </a:pPr>
            <a:endParaRPr lang="en-US" kern="0" dirty="0">
              <a:solidFill>
                <a:srgbClr val="000000"/>
              </a:solidFill>
              <a:latin typeface="Arial" panose="020B0604020202020204"/>
              <a:sym typeface="Calibri"/>
            </a:endParaRPr>
          </a:p>
        </p:txBody>
      </p:sp>
      <p:sp>
        <p:nvSpPr>
          <p:cNvPr id="59" name="Rectangle 58">
            <a:extLst>
              <a:ext uri="{FF2B5EF4-FFF2-40B4-BE49-F238E27FC236}">
                <a16:creationId xmlns:a16="http://schemas.microsoft.com/office/drawing/2014/main" id="{F9B23740-A831-CB92-A90A-FC9990005C02}"/>
              </a:ext>
            </a:extLst>
          </p:cNvPr>
          <p:cNvSpPr/>
          <p:nvPr/>
        </p:nvSpPr>
        <p:spPr>
          <a:xfrm>
            <a:off x="235107" y="1487252"/>
            <a:ext cx="2422463" cy="27432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   Profile summary</a:t>
            </a:r>
          </a:p>
        </p:txBody>
      </p:sp>
      <p:sp>
        <p:nvSpPr>
          <p:cNvPr id="60" name="Rectangle 59">
            <a:extLst>
              <a:ext uri="{FF2B5EF4-FFF2-40B4-BE49-F238E27FC236}">
                <a16:creationId xmlns:a16="http://schemas.microsoft.com/office/drawing/2014/main" id="{41B846AD-C863-154C-7636-5787AC8872EE}"/>
              </a:ext>
            </a:extLst>
          </p:cNvPr>
          <p:cNvSpPr/>
          <p:nvPr/>
        </p:nvSpPr>
        <p:spPr>
          <a:xfrm>
            <a:off x="3809270" y="1487252"/>
            <a:ext cx="2273831" cy="2743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   Experience summary</a:t>
            </a:r>
          </a:p>
        </p:txBody>
      </p:sp>
      <p:sp>
        <p:nvSpPr>
          <p:cNvPr id="61" name="Rectangle 60">
            <a:extLst>
              <a:ext uri="{FF2B5EF4-FFF2-40B4-BE49-F238E27FC236}">
                <a16:creationId xmlns:a16="http://schemas.microsoft.com/office/drawing/2014/main" id="{D77EA950-70ED-A09C-709E-3CAC7DEAA3DB}"/>
              </a:ext>
            </a:extLst>
          </p:cNvPr>
          <p:cNvSpPr/>
          <p:nvPr/>
        </p:nvSpPr>
        <p:spPr>
          <a:xfrm>
            <a:off x="243990" y="3323934"/>
            <a:ext cx="2422463" cy="2743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Qualifications</a:t>
            </a:r>
          </a:p>
        </p:txBody>
      </p:sp>
      <p:sp>
        <p:nvSpPr>
          <p:cNvPr id="62" name="TextBox 61">
            <a:extLst>
              <a:ext uri="{FF2B5EF4-FFF2-40B4-BE49-F238E27FC236}">
                <a16:creationId xmlns:a16="http://schemas.microsoft.com/office/drawing/2014/main" id="{B40EE737-AE3A-1ED0-0E43-5F6E2673A583}"/>
              </a:ext>
            </a:extLst>
          </p:cNvPr>
          <p:cNvSpPr txBox="1"/>
          <p:nvPr/>
        </p:nvSpPr>
        <p:spPr>
          <a:xfrm>
            <a:off x="235107" y="1803800"/>
            <a:ext cx="3548984" cy="1323439"/>
          </a:xfrm>
          <a:prstGeom prst="rect">
            <a:avLst/>
          </a:prstGeom>
          <a:noFill/>
        </p:spPr>
        <p:txBody>
          <a:bodyPr wrap="square" rtlCol="0">
            <a:spAutoFit/>
          </a:bodyPr>
          <a:lstStyle/>
          <a:p>
            <a:pPr marL="171446" indent="-171446" defTabSz="914378" eaLnBrk="0" fontAlgn="auto" hangingPunct="0">
              <a:spcBef>
                <a:spcPts val="0"/>
              </a:spcBef>
              <a:spcAft>
                <a:spcPts val="0"/>
              </a:spcAft>
              <a:buFont typeface="Arial" panose="020B0604020202020204" pitchFamily="34" charset="0"/>
              <a:buChar char="•"/>
              <a:defRPr/>
            </a:pPr>
            <a:r>
              <a:rPr lang="en-GB" sz="800" kern="0" dirty="0">
                <a:latin typeface="Arial" panose="020B0604020202020204"/>
                <a:sym typeface="Calibri"/>
              </a:rPr>
              <a:t>Over 18 years of experience with various technologies across the web spectrum (PHP, </a:t>
            </a:r>
            <a:r>
              <a:rPr lang="en-GB" sz="800" kern="0" dirty="0" err="1">
                <a:latin typeface="Arial" panose="020B0604020202020204"/>
                <a:sym typeface="Calibri"/>
              </a:rPr>
              <a:t>Javascript</a:t>
            </a:r>
            <a:r>
              <a:rPr lang="en-GB" sz="800" kern="0" dirty="0">
                <a:latin typeface="Arial" panose="020B0604020202020204"/>
                <a:sym typeface="Calibri"/>
              </a:rPr>
              <a:t>, Python, Java, CSS, bash, </a:t>
            </a:r>
            <a:r>
              <a:rPr lang="en-GB" sz="800" kern="0" dirty="0" err="1">
                <a:latin typeface="Arial" panose="020B0604020202020204"/>
                <a:sym typeface="Calibri"/>
              </a:rPr>
              <a:t>websockets</a:t>
            </a:r>
            <a:r>
              <a:rPr lang="en-GB" sz="800" kern="0" dirty="0">
                <a:latin typeface="Arial" panose="020B0604020202020204"/>
                <a:sym typeface="Calibri"/>
              </a:rPr>
              <a:t> etc)</a:t>
            </a:r>
          </a:p>
          <a:p>
            <a:pPr marL="171446" indent="-171446" defTabSz="914378" eaLnBrk="0" fontAlgn="auto" hangingPunct="0">
              <a:spcBef>
                <a:spcPts val="0"/>
              </a:spcBef>
              <a:spcAft>
                <a:spcPts val="0"/>
              </a:spcAft>
              <a:buFont typeface="Arial" panose="020B0604020202020204" pitchFamily="34" charset="0"/>
              <a:buChar char="•"/>
              <a:defRPr/>
            </a:pPr>
            <a:r>
              <a:rPr lang="en-GB" sz="800" kern="0" dirty="0">
                <a:latin typeface="Arial" panose="020B0604020202020204"/>
                <a:sym typeface="Calibri"/>
              </a:rPr>
              <a:t>Good hardware and infrastructure knowledge (DevOps, CI/CD)</a:t>
            </a:r>
          </a:p>
          <a:p>
            <a:pPr marL="171446" indent="-171446" defTabSz="914378" eaLnBrk="0" fontAlgn="auto" hangingPunct="0">
              <a:spcBef>
                <a:spcPts val="0"/>
              </a:spcBef>
              <a:spcAft>
                <a:spcPts val="0"/>
              </a:spcAft>
              <a:buFont typeface="Arial" panose="020B0604020202020204" pitchFamily="34" charset="0"/>
              <a:buChar char="•"/>
              <a:defRPr/>
            </a:pPr>
            <a:r>
              <a:rPr lang="en-GB" sz="800" kern="0" dirty="0">
                <a:latin typeface="Arial" panose="020B0604020202020204"/>
                <a:sym typeface="Calibri"/>
              </a:rPr>
              <a:t>Worked on more than 100 projects in Drupal, </a:t>
            </a:r>
            <a:r>
              <a:rPr lang="en-GB" sz="800" kern="0" dirty="0" err="1">
                <a:latin typeface="Arial" panose="020B0604020202020204"/>
                <a:sym typeface="Calibri"/>
              </a:rPr>
              <a:t>Wordpress</a:t>
            </a:r>
            <a:r>
              <a:rPr lang="en-GB" sz="800" kern="0" dirty="0">
                <a:latin typeface="Arial" panose="020B0604020202020204"/>
                <a:sym typeface="Calibri"/>
              </a:rPr>
              <a:t>, Django, Laravel, Zend, CodeIgniter, Magento, </a:t>
            </a:r>
            <a:r>
              <a:rPr lang="en-GB" sz="800" kern="0" dirty="0" err="1">
                <a:latin typeface="Arial" panose="020B0604020202020204"/>
                <a:sym typeface="Calibri"/>
              </a:rPr>
              <a:t>PrestaShop</a:t>
            </a:r>
            <a:r>
              <a:rPr lang="en-GB" sz="800" kern="0" dirty="0">
                <a:latin typeface="Arial" panose="020B0604020202020204"/>
                <a:sym typeface="Calibri"/>
              </a:rPr>
              <a:t>, </a:t>
            </a:r>
            <a:r>
              <a:rPr lang="en-GB" sz="800" kern="0" dirty="0" err="1">
                <a:latin typeface="Arial" panose="020B0604020202020204"/>
                <a:sym typeface="Calibri"/>
              </a:rPr>
              <a:t>VueJS</a:t>
            </a:r>
            <a:r>
              <a:rPr lang="en-GB" sz="800" kern="0" dirty="0">
                <a:latin typeface="Arial" panose="020B0604020202020204"/>
                <a:sym typeface="Calibri"/>
              </a:rPr>
              <a:t>, </a:t>
            </a:r>
            <a:r>
              <a:rPr lang="en-GB" sz="800" kern="0" dirty="0" err="1">
                <a:latin typeface="Arial" panose="020B0604020202020204"/>
                <a:sym typeface="Calibri"/>
              </a:rPr>
              <a:t>nodeJS</a:t>
            </a:r>
            <a:r>
              <a:rPr lang="en-GB" sz="800" kern="0" dirty="0">
                <a:latin typeface="Arial" panose="020B0604020202020204"/>
                <a:sym typeface="Calibri"/>
              </a:rPr>
              <a:t>, bash etc </a:t>
            </a:r>
          </a:p>
          <a:p>
            <a:pPr marL="171446" indent="-171446" defTabSz="914378" eaLnBrk="0" fontAlgn="auto" hangingPunct="0">
              <a:spcBef>
                <a:spcPts val="0"/>
              </a:spcBef>
              <a:spcAft>
                <a:spcPts val="0"/>
              </a:spcAft>
              <a:buFont typeface="Arial" panose="020B0604020202020204" pitchFamily="34" charset="0"/>
              <a:buChar char="•"/>
              <a:defRPr/>
            </a:pPr>
            <a:r>
              <a:rPr lang="en-GB" sz="800" kern="0" dirty="0">
                <a:latin typeface="Arial" panose="020B0604020202020204"/>
                <a:sym typeface="Calibri"/>
              </a:rPr>
              <a:t>Worked for clients like IQOS (Philip Morris), Vodafone, Ursus, </a:t>
            </a:r>
            <a:r>
              <a:rPr lang="en-GB" sz="800" kern="0" dirty="0" err="1">
                <a:latin typeface="Arial" panose="020B0604020202020204"/>
                <a:sym typeface="Calibri"/>
              </a:rPr>
              <a:t>Timisoreana</a:t>
            </a:r>
            <a:r>
              <a:rPr lang="en-GB" sz="800" kern="0" dirty="0">
                <a:latin typeface="Arial" panose="020B0604020202020204"/>
                <a:sym typeface="Calibri"/>
              </a:rPr>
              <a:t>, Joel Robuchon, Alka, BCR, HP, </a:t>
            </a:r>
            <a:r>
              <a:rPr lang="en-GB" sz="800" kern="0" dirty="0" err="1">
                <a:latin typeface="Arial" panose="020B0604020202020204"/>
                <a:sym typeface="Calibri"/>
              </a:rPr>
              <a:t>Napolact</a:t>
            </a:r>
            <a:r>
              <a:rPr lang="en-GB" sz="800" kern="0" dirty="0">
                <a:latin typeface="Arial" panose="020B0604020202020204"/>
                <a:sym typeface="Calibri"/>
              </a:rPr>
              <a:t>, </a:t>
            </a:r>
            <a:r>
              <a:rPr lang="en-GB" sz="800" kern="0" dirty="0" err="1">
                <a:latin typeface="Arial" panose="020B0604020202020204"/>
                <a:sym typeface="Calibri"/>
              </a:rPr>
              <a:t>Unicredit</a:t>
            </a:r>
            <a:r>
              <a:rPr lang="en-GB" sz="800" kern="0" dirty="0">
                <a:latin typeface="Arial" panose="020B0604020202020204"/>
                <a:sym typeface="Calibri"/>
              </a:rPr>
              <a:t> Bank, </a:t>
            </a:r>
            <a:r>
              <a:rPr lang="en-GB" sz="800" kern="0" dirty="0" err="1">
                <a:latin typeface="Arial" panose="020B0604020202020204"/>
                <a:sym typeface="Calibri"/>
              </a:rPr>
              <a:t>NelsonHall</a:t>
            </a:r>
            <a:r>
              <a:rPr lang="en-GB" sz="800" kern="0" dirty="0">
                <a:latin typeface="Arial" panose="020B0604020202020204"/>
                <a:sym typeface="Calibri"/>
              </a:rPr>
              <a:t>, Unilever, Edenia Foods, </a:t>
            </a:r>
            <a:r>
              <a:rPr lang="en-GB" sz="800" kern="0" dirty="0" err="1">
                <a:latin typeface="Arial" panose="020B0604020202020204"/>
                <a:sym typeface="Calibri"/>
              </a:rPr>
              <a:t>Tarom</a:t>
            </a:r>
            <a:r>
              <a:rPr lang="en-GB" sz="800" kern="0" dirty="0">
                <a:latin typeface="Arial" panose="020B0604020202020204"/>
                <a:sym typeface="Calibri"/>
              </a:rPr>
              <a:t>, BRD, Janssen and Sodexo</a:t>
            </a:r>
          </a:p>
        </p:txBody>
      </p:sp>
      <p:sp>
        <p:nvSpPr>
          <p:cNvPr id="63" name="Rectangle 12">
            <a:extLst>
              <a:ext uri="{FF2B5EF4-FFF2-40B4-BE49-F238E27FC236}">
                <a16:creationId xmlns:a16="http://schemas.microsoft.com/office/drawing/2014/main" id="{30895DE4-0BA7-8995-FAB6-1727421813E6}"/>
              </a:ext>
            </a:extLst>
          </p:cNvPr>
          <p:cNvSpPr>
            <a:spLocks noChangeArrowheads="1"/>
          </p:cNvSpPr>
          <p:nvPr/>
        </p:nvSpPr>
        <p:spPr bwMode="auto">
          <a:xfrm>
            <a:off x="235107" y="3585931"/>
            <a:ext cx="3548984" cy="672168"/>
          </a:xfrm>
          <a:prstGeom prst="rect">
            <a:avLst/>
          </a:prstGeom>
          <a:solidFill>
            <a:schemeClr val="bg1">
              <a:alpha val="0"/>
            </a:schemeClr>
          </a:solidFill>
          <a:ln w="3175">
            <a:noFill/>
            <a:miter lim="800000"/>
            <a:headEnd/>
            <a:tailEnd/>
          </a:ln>
          <a:effectLst/>
        </p:spPr>
        <p:txBody>
          <a:bodyPr lIns="64000" tIns="64000" rIns="64000" bIns="64000" numCol="1"/>
          <a:lstStyle/>
          <a:p>
            <a:pPr marL="171446" indent="-171446" defTabSz="457189" fontAlgn="auto" hangingPunct="0">
              <a:spcBef>
                <a:spcPts val="0"/>
              </a:spcBef>
              <a:spcAft>
                <a:spcPts val="0"/>
              </a:spcAft>
              <a:buFont typeface="Arial" panose="020B0604020202020204" pitchFamily="34" charset="0"/>
              <a:buChar char="•"/>
            </a:pPr>
            <a:r>
              <a:rPr lang="en-GB" sz="800" kern="0" dirty="0">
                <a:latin typeface="Arial" panose="020B0604020202020204"/>
                <a:sym typeface="Calibri"/>
              </a:rPr>
              <a:t>Bachelor’s Degree (Electrical Engineering and Computer Science), Bucharest</a:t>
            </a:r>
          </a:p>
          <a:p>
            <a:pPr marL="171446" indent="-171446" defTabSz="457189" fontAlgn="auto" hangingPunct="0">
              <a:spcBef>
                <a:spcPts val="0"/>
              </a:spcBef>
              <a:spcAft>
                <a:spcPts val="0"/>
              </a:spcAft>
              <a:buFont typeface="Arial" panose="020B0604020202020204" pitchFamily="34" charset="0"/>
              <a:buChar char="•"/>
            </a:pPr>
            <a:r>
              <a:rPr lang="en-GB" sz="800" dirty="0"/>
              <a:t>Masters in Anthropology (not graduated) – Faculty of Political Sciences (SNSPA), Bucharest</a:t>
            </a:r>
            <a:endParaRPr lang="en-GB" sz="800" kern="0" dirty="0">
              <a:latin typeface="Arial" panose="020B0604020202020204"/>
              <a:sym typeface="Calibri"/>
            </a:endParaRPr>
          </a:p>
        </p:txBody>
      </p:sp>
      <p:cxnSp>
        <p:nvCxnSpPr>
          <p:cNvPr id="64" name="Straight Connector 63">
            <a:extLst>
              <a:ext uri="{FF2B5EF4-FFF2-40B4-BE49-F238E27FC236}">
                <a16:creationId xmlns:a16="http://schemas.microsoft.com/office/drawing/2014/main" id="{97901409-E89F-3064-1768-9C652D2AA771}"/>
              </a:ext>
            </a:extLst>
          </p:cNvPr>
          <p:cNvCxnSpPr>
            <a:cxnSpLocks/>
          </p:cNvCxnSpPr>
          <p:nvPr/>
        </p:nvCxnSpPr>
        <p:spPr>
          <a:xfrm>
            <a:off x="3801674" y="1632166"/>
            <a:ext cx="0" cy="3859530"/>
          </a:xfrm>
          <a:prstGeom prst="line">
            <a:avLst/>
          </a:prstGeom>
          <a:gradFill flip="none" rotWithShape="1">
            <a:gsLst>
              <a:gs pos="50000">
                <a:srgbClr val="E5546C">
                  <a:alpha val="52000"/>
                </a:srgbClr>
              </a:gs>
              <a:gs pos="97000">
                <a:srgbClr val="A53094">
                  <a:alpha val="98000"/>
                </a:srgbClr>
              </a:gs>
            </a:gsLst>
            <a:lin ang="5400000" scaled="1"/>
            <a:tileRect/>
          </a:gradFill>
          <a:ln w="6350" cap="flat">
            <a:solidFill>
              <a:schemeClr val="tx1">
                <a:lumMod val="50000"/>
                <a:lumOff val="50000"/>
              </a:schemeClr>
            </a:solidFill>
            <a:prstDash val="lgDash"/>
            <a:round/>
          </a:ln>
          <a:effectLst/>
          <a:sp3d/>
        </p:spPr>
        <p:style>
          <a:lnRef idx="0">
            <a:scrgbClr r="0" g="0" b="0"/>
          </a:lnRef>
          <a:fillRef idx="0">
            <a:scrgbClr r="0" g="0" b="0"/>
          </a:fillRef>
          <a:effectRef idx="0">
            <a:scrgbClr r="0" g="0" b="0"/>
          </a:effectRef>
          <a:fontRef idx="none"/>
        </p:style>
      </p:cxnSp>
      <p:cxnSp>
        <p:nvCxnSpPr>
          <p:cNvPr id="66" name="Straight Connector 65">
            <a:extLst>
              <a:ext uri="{FF2B5EF4-FFF2-40B4-BE49-F238E27FC236}">
                <a16:creationId xmlns:a16="http://schemas.microsoft.com/office/drawing/2014/main" id="{16D2371C-5115-0F63-5191-7AB5DAA433CF}"/>
              </a:ext>
            </a:extLst>
          </p:cNvPr>
          <p:cNvCxnSpPr>
            <a:cxnSpLocks/>
          </p:cNvCxnSpPr>
          <p:nvPr/>
        </p:nvCxnSpPr>
        <p:spPr>
          <a:xfrm>
            <a:off x="251008" y="3157595"/>
            <a:ext cx="3489609" cy="0"/>
          </a:xfrm>
          <a:prstGeom prst="line">
            <a:avLst/>
          </a:prstGeom>
          <a:gradFill flip="none" rotWithShape="1">
            <a:gsLst>
              <a:gs pos="50000">
                <a:srgbClr val="E5546C">
                  <a:alpha val="52000"/>
                </a:srgbClr>
              </a:gs>
              <a:gs pos="97000">
                <a:srgbClr val="A53094">
                  <a:alpha val="98000"/>
                </a:srgbClr>
              </a:gs>
            </a:gsLst>
            <a:lin ang="5400000" scaled="1"/>
            <a:tileRect/>
          </a:gradFill>
          <a:ln w="6350" cap="flat">
            <a:solidFill>
              <a:schemeClr val="tx1">
                <a:lumMod val="50000"/>
                <a:lumOff val="50000"/>
              </a:schemeClr>
            </a:solidFill>
            <a:prstDash val="lgDash"/>
            <a:round/>
          </a:ln>
          <a:effectLst/>
          <a:sp3d/>
        </p:spPr>
        <p:style>
          <a:lnRef idx="0">
            <a:scrgbClr r="0" g="0" b="0"/>
          </a:lnRef>
          <a:fillRef idx="0">
            <a:scrgbClr r="0" g="0" b="0"/>
          </a:fillRef>
          <a:effectRef idx="0">
            <a:scrgbClr r="0" g="0" b="0"/>
          </a:effectRef>
          <a:fontRef idx="none"/>
        </p:style>
      </p:cxnSp>
      <p:sp>
        <p:nvSpPr>
          <p:cNvPr id="82" name="TextBox 81">
            <a:extLst>
              <a:ext uri="{FF2B5EF4-FFF2-40B4-BE49-F238E27FC236}">
                <a16:creationId xmlns:a16="http://schemas.microsoft.com/office/drawing/2014/main" id="{CC64A757-D88D-D6E5-E3CB-6D770FBC6044}"/>
              </a:ext>
            </a:extLst>
          </p:cNvPr>
          <p:cNvSpPr txBox="1"/>
          <p:nvPr/>
        </p:nvSpPr>
        <p:spPr>
          <a:xfrm>
            <a:off x="3953693" y="1723383"/>
            <a:ext cx="4911214" cy="3016210"/>
          </a:xfrm>
          <a:prstGeom prst="rect">
            <a:avLst/>
          </a:prstGeom>
          <a:noFill/>
        </p:spPr>
        <p:txBody>
          <a:bodyPr wrap="square" lIns="91440" tIns="45720" rIns="91440" bIns="45720" rtlCol="0" anchor="t">
            <a:spAutoFit/>
          </a:bodyPr>
          <a:lstStyle/>
          <a:p>
            <a:pPr defTabSz="457189" fontAlgn="auto" hangingPunct="0">
              <a:spcBef>
                <a:spcPts val="0"/>
              </a:spcBef>
              <a:spcAft>
                <a:spcPts val="0"/>
              </a:spcAft>
            </a:pPr>
            <a:endParaRPr lang="en-GB" sz="1000" b="1" kern="0" dirty="0">
              <a:solidFill>
                <a:srgbClr val="000000"/>
              </a:solidFill>
              <a:cs typeface="Arial" panose="020B0604020202020204" pitchFamily="34" charset="0"/>
              <a:sym typeface="Calibri"/>
            </a:endParaRPr>
          </a:p>
          <a:p>
            <a:pPr defTabSz="457189" fontAlgn="auto" hangingPunct="0">
              <a:spcBef>
                <a:spcPts val="0"/>
              </a:spcBef>
              <a:spcAft>
                <a:spcPts val="0"/>
              </a:spcAft>
            </a:pPr>
            <a:r>
              <a:rPr lang="en-GB" sz="900" b="1" u="sng" kern="0" dirty="0">
                <a:solidFill>
                  <a:srgbClr val="000000"/>
                </a:solidFill>
                <a:cs typeface="Arial" panose="020B0604020202020204" pitchFamily="34" charset="0"/>
                <a:sym typeface="Calibri"/>
              </a:rPr>
              <a:t>Senior Drupal Developer – United Nations Office at Geneva (ITBAU)</a:t>
            </a:r>
          </a:p>
          <a:p>
            <a:pPr defTabSz="457189" fontAlgn="auto" hangingPunct="0">
              <a:spcBef>
                <a:spcPts val="0"/>
              </a:spcBef>
              <a:spcAft>
                <a:spcPts val="0"/>
              </a:spcAft>
            </a:pPr>
            <a:endParaRPr lang="en-GB" sz="800" dirty="0"/>
          </a:p>
          <a:p>
            <a:pPr marL="171450" indent="-171450" defTabSz="457189" fontAlgn="auto" hangingPunct="0">
              <a:spcBef>
                <a:spcPts val="0"/>
              </a:spcBef>
              <a:spcAft>
                <a:spcPts val="0"/>
              </a:spcAft>
              <a:buFont typeface="Arial" panose="020B0604020202020204" pitchFamily="34" charset="0"/>
              <a:buChar char="•"/>
            </a:pPr>
            <a:r>
              <a:rPr lang="en-GB" sz="800" dirty="0"/>
              <a:t>website maintenance and development</a:t>
            </a:r>
          </a:p>
          <a:p>
            <a:pPr marL="171450" indent="-171450" defTabSz="457189" fontAlgn="auto" hangingPunct="0">
              <a:spcBef>
                <a:spcPts val="0"/>
              </a:spcBef>
              <a:spcAft>
                <a:spcPts val="0"/>
              </a:spcAft>
              <a:buFont typeface="Arial" panose="020B0604020202020204" pitchFamily="34" charset="0"/>
              <a:buChar char="•"/>
            </a:pPr>
            <a:r>
              <a:rPr lang="en-GB" sz="800" dirty="0"/>
              <a:t>design system implementation</a:t>
            </a:r>
          </a:p>
          <a:p>
            <a:pPr marL="171450" indent="-171450" defTabSz="457189" fontAlgn="auto" hangingPunct="0">
              <a:spcBef>
                <a:spcPts val="0"/>
              </a:spcBef>
              <a:spcAft>
                <a:spcPts val="0"/>
              </a:spcAft>
              <a:buFont typeface="Arial" panose="020B0604020202020204" pitchFamily="34" charset="0"/>
              <a:buChar char="•"/>
            </a:pPr>
            <a:r>
              <a:rPr lang="en-GB" sz="800" dirty="0"/>
              <a:t>architecture design for new projects</a:t>
            </a:r>
          </a:p>
          <a:p>
            <a:pPr marL="171450" indent="-171450" defTabSz="457189" fontAlgn="auto" hangingPunct="0">
              <a:spcBef>
                <a:spcPts val="0"/>
              </a:spcBef>
              <a:spcAft>
                <a:spcPts val="0"/>
              </a:spcAft>
              <a:buFont typeface="Arial" panose="020B0604020202020204" pitchFamily="34" charset="0"/>
              <a:buChar char="•"/>
            </a:pPr>
            <a:r>
              <a:rPr lang="en-GB" sz="800" dirty="0"/>
              <a:t>audit and improve website accessibility</a:t>
            </a:r>
          </a:p>
          <a:p>
            <a:pPr marL="171450" indent="-171450" defTabSz="457189" fontAlgn="auto" hangingPunct="0">
              <a:spcBef>
                <a:spcPts val="0"/>
              </a:spcBef>
              <a:spcAft>
                <a:spcPts val="0"/>
              </a:spcAft>
              <a:buFont typeface="Arial" panose="020B0604020202020204" pitchFamily="34" charset="0"/>
              <a:buChar char="•"/>
            </a:pPr>
            <a:r>
              <a:rPr lang="en-GB" sz="800" dirty="0"/>
              <a:t>provide business analysis support for new features and projects (write documentation, use cases, create wireframes)</a:t>
            </a:r>
          </a:p>
          <a:p>
            <a:pPr marL="171450" indent="-171450" defTabSz="457189" fontAlgn="auto" hangingPunct="0">
              <a:spcBef>
                <a:spcPts val="0"/>
              </a:spcBef>
              <a:spcAft>
                <a:spcPts val="0"/>
              </a:spcAft>
              <a:buFont typeface="Arial" panose="020B0604020202020204" pitchFamily="34" charset="0"/>
              <a:buChar char="•"/>
            </a:pPr>
            <a:r>
              <a:rPr lang="en-GB" sz="800" dirty="0"/>
              <a:t>oversee deployments (CI/CD)</a:t>
            </a:r>
          </a:p>
          <a:p>
            <a:pPr defTabSz="457189" fontAlgn="auto" hangingPunct="0">
              <a:spcBef>
                <a:spcPts val="0"/>
              </a:spcBef>
              <a:spcAft>
                <a:spcPts val="0"/>
              </a:spcAft>
            </a:pPr>
            <a:endParaRPr lang="en-GB" sz="800" kern="0" dirty="0">
              <a:solidFill>
                <a:srgbClr val="000000"/>
              </a:solidFill>
              <a:cs typeface="Arial" panose="020B0604020202020204" pitchFamily="34" charset="0"/>
              <a:sym typeface="Calibri"/>
            </a:endParaRPr>
          </a:p>
          <a:p>
            <a:pPr defTabSz="457189" fontAlgn="auto" hangingPunct="0">
              <a:spcBef>
                <a:spcPts val="0"/>
              </a:spcBef>
              <a:spcAft>
                <a:spcPts val="0"/>
              </a:spcAft>
            </a:pPr>
            <a:endParaRPr lang="en-GB" sz="900" u="sng" kern="0" dirty="0">
              <a:solidFill>
                <a:srgbClr val="000000"/>
              </a:solidFill>
              <a:cs typeface="Arial" panose="020B0604020202020204" pitchFamily="34" charset="0"/>
              <a:sym typeface="Calibri"/>
            </a:endParaRPr>
          </a:p>
          <a:p>
            <a:pPr defTabSz="457189" fontAlgn="auto" hangingPunct="0">
              <a:spcBef>
                <a:spcPts val="0"/>
              </a:spcBef>
              <a:spcAft>
                <a:spcPts val="0"/>
              </a:spcAft>
            </a:pPr>
            <a:r>
              <a:rPr lang="en-GB" sz="900" b="1" u="sng" kern="0" dirty="0">
                <a:solidFill>
                  <a:srgbClr val="000000"/>
                </a:solidFill>
                <a:cs typeface="Arial" panose="020B0604020202020204" pitchFamily="34" charset="0"/>
                <a:sym typeface="Calibri"/>
              </a:rPr>
              <a:t>Senior </a:t>
            </a:r>
            <a:r>
              <a:rPr lang="en-GB" sz="900" b="1" u="sng" kern="0" dirty="0" err="1">
                <a:solidFill>
                  <a:srgbClr val="000000"/>
                </a:solidFill>
                <a:cs typeface="Arial" panose="020B0604020202020204" pitchFamily="34" charset="0"/>
                <a:sym typeface="Calibri"/>
              </a:rPr>
              <a:t>Fullstack</a:t>
            </a:r>
            <a:r>
              <a:rPr lang="en-GB" sz="900" b="1" u="sng" kern="0" dirty="0">
                <a:solidFill>
                  <a:srgbClr val="000000"/>
                </a:solidFill>
                <a:cs typeface="Arial" panose="020B0604020202020204" pitchFamily="34" charset="0"/>
                <a:sym typeface="Calibri"/>
              </a:rPr>
              <a:t> Web Developer – Kubis Interactive, Bucharest, Romania</a:t>
            </a:r>
          </a:p>
          <a:p>
            <a:pPr defTabSz="457189" fontAlgn="auto" hangingPunct="0">
              <a:spcBef>
                <a:spcPts val="0"/>
              </a:spcBef>
              <a:spcAft>
                <a:spcPts val="0"/>
              </a:spcAft>
            </a:pPr>
            <a:endParaRPr lang="en-GB" sz="900" b="1" u="sng" kern="0" dirty="0">
              <a:solidFill>
                <a:srgbClr val="000000"/>
              </a:solidFill>
              <a:cs typeface="Arial" panose="020B0604020202020204" pitchFamily="34" charset="0"/>
              <a:sym typeface="Calibri"/>
            </a:endParaRPr>
          </a:p>
          <a:p>
            <a:pPr marL="114297" indent="-114297" defTabSz="457189" fontAlgn="auto" hangingPunct="0">
              <a:spcBef>
                <a:spcPts val="0"/>
              </a:spcBef>
              <a:spcAft>
                <a:spcPts val="0"/>
              </a:spcAft>
              <a:buFont typeface="Arial" panose="020B0604020202020204" pitchFamily="34" charset="0"/>
              <a:buChar char="•"/>
            </a:pPr>
            <a:r>
              <a:rPr lang="en-GB" sz="800" dirty="0"/>
              <a:t>develop websites and web applications for clients (from US and RO)</a:t>
            </a:r>
          </a:p>
          <a:p>
            <a:pPr marL="114297" indent="-114297" defTabSz="457189" fontAlgn="auto" hangingPunct="0">
              <a:spcBef>
                <a:spcPts val="0"/>
              </a:spcBef>
              <a:spcAft>
                <a:spcPts val="0"/>
              </a:spcAft>
              <a:buFont typeface="Arial" panose="020B0604020202020204" pitchFamily="34" charset="0"/>
              <a:buChar char="•"/>
            </a:pPr>
            <a:r>
              <a:rPr lang="en-GB" sz="800" dirty="0"/>
              <a:t>provide support for clients' existing web applications</a:t>
            </a:r>
          </a:p>
          <a:p>
            <a:pPr marL="114297" indent="-114297" defTabSz="457189" fontAlgn="auto" hangingPunct="0">
              <a:spcBef>
                <a:spcPts val="0"/>
              </a:spcBef>
              <a:spcAft>
                <a:spcPts val="0"/>
              </a:spcAft>
              <a:buFont typeface="Arial" panose="020B0604020202020204" pitchFamily="34" charset="0"/>
              <a:buChar char="•"/>
            </a:pPr>
            <a:r>
              <a:rPr lang="en-GB" sz="800" dirty="0"/>
              <a:t>provide hosting management and support for the company's servers and client servers</a:t>
            </a:r>
          </a:p>
          <a:p>
            <a:pPr marL="114297" indent="-114297" defTabSz="457189" fontAlgn="auto" hangingPunct="0">
              <a:spcBef>
                <a:spcPts val="0"/>
              </a:spcBef>
              <a:spcAft>
                <a:spcPts val="0"/>
              </a:spcAft>
              <a:buFont typeface="Arial" panose="020B0604020202020204" pitchFamily="34" charset="0"/>
              <a:buChar char="•"/>
            </a:pPr>
            <a:r>
              <a:rPr lang="en-GB" sz="800" dirty="0"/>
              <a:t>write proposed architecture documentation for projects</a:t>
            </a:r>
          </a:p>
          <a:p>
            <a:pPr marL="114297" indent="-114297" defTabSz="457189" fontAlgn="auto" hangingPunct="0">
              <a:spcBef>
                <a:spcPts val="0"/>
              </a:spcBef>
              <a:spcAft>
                <a:spcPts val="0"/>
              </a:spcAft>
              <a:buFont typeface="Arial" panose="020B0604020202020204" pitchFamily="34" charset="0"/>
              <a:buChar char="•"/>
            </a:pPr>
            <a:r>
              <a:rPr lang="en-GB" sz="800" dirty="0"/>
              <a:t>write step by step instructions of management interfaces of built applications</a:t>
            </a:r>
          </a:p>
          <a:p>
            <a:pPr marL="114297" indent="-114297" defTabSz="457189" fontAlgn="auto" hangingPunct="0">
              <a:spcBef>
                <a:spcPts val="0"/>
              </a:spcBef>
              <a:spcAft>
                <a:spcPts val="0"/>
              </a:spcAft>
              <a:buFont typeface="Arial" panose="020B0604020202020204" pitchFamily="34" charset="0"/>
              <a:buChar char="•"/>
            </a:pPr>
            <a:r>
              <a:rPr lang="en-GB" sz="800" dirty="0"/>
              <a:t>develop internal application for credentials management</a:t>
            </a:r>
          </a:p>
          <a:p>
            <a:pPr marL="114297" indent="-114297" defTabSz="457189" fontAlgn="auto" hangingPunct="0">
              <a:spcBef>
                <a:spcPts val="0"/>
              </a:spcBef>
              <a:spcAft>
                <a:spcPts val="0"/>
              </a:spcAft>
              <a:buFont typeface="Arial" panose="020B0604020202020204" pitchFamily="34" charset="0"/>
              <a:buChar char="•"/>
            </a:pPr>
            <a:r>
              <a:rPr lang="en-GB" sz="800" dirty="0"/>
              <a:t>develop internal development architecture based on docker</a:t>
            </a:r>
          </a:p>
          <a:p>
            <a:pPr marL="114297" indent="-114297" defTabSz="457189" fontAlgn="auto" hangingPunct="0">
              <a:spcBef>
                <a:spcPts val="0"/>
              </a:spcBef>
              <a:spcAft>
                <a:spcPts val="0"/>
              </a:spcAft>
              <a:buFont typeface="Arial" panose="020B0604020202020204" pitchFamily="34" charset="0"/>
              <a:buChar char="•"/>
            </a:pPr>
            <a:r>
              <a:rPr lang="en-GB" sz="800" dirty="0"/>
              <a:t>develop internal web performance assessment application</a:t>
            </a:r>
          </a:p>
          <a:p>
            <a:pPr marL="114297" indent="-114297" defTabSz="457189" fontAlgn="auto" hangingPunct="0">
              <a:spcBef>
                <a:spcPts val="0"/>
              </a:spcBef>
              <a:spcAft>
                <a:spcPts val="0"/>
              </a:spcAft>
              <a:buFont typeface="Arial" panose="020B0604020202020204" pitchFamily="34" charset="0"/>
              <a:buChar char="•"/>
            </a:pPr>
            <a:r>
              <a:rPr lang="en-GB" sz="800" dirty="0"/>
              <a:t>oversee project deployments (CI/CD)</a:t>
            </a:r>
            <a:endParaRPr lang="en-GB" sz="800" kern="0" dirty="0">
              <a:solidFill>
                <a:srgbClr val="000000"/>
              </a:solidFill>
              <a:cs typeface="Arial" panose="020B0604020202020204" pitchFamily="34" charset="0"/>
              <a:sym typeface="Calibri"/>
            </a:endParaRPr>
          </a:p>
        </p:txBody>
      </p:sp>
      <p:cxnSp>
        <p:nvCxnSpPr>
          <p:cNvPr id="83" name="Straight Connector 82">
            <a:extLst>
              <a:ext uri="{FF2B5EF4-FFF2-40B4-BE49-F238E27FC236}">
                <a16:creationId xmlns:a16="http://schemas.microsoft.com/office/drawing/2014/main" id="{1A76FFC4-6B3E-93FC-29C0-04266B991E23}"/>
              </a:ext>
            </a:extLst>
          </p:cNvPr>
          <p:cNvCxnSpPr>
            <a:cxnSpLocks/>
          </p:cNvCxnSpPr>
          <p:nvPr/>
        </p:nvCxnSpPr>
        <p:spPr>
          <a:xfrm>
            <a:off x="317403" y="1624412"/>
            <a:ext cx="571821"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cxnSp>
        <p:nvCxnSpPr>
          <p:cNvPr id="84" name="Straight Connector 83">
            <a:extLst>
              <a:ext uri="{FF2B5EF4-FFF2-40B4-BE49-F238E27FC236}">
                <a16:creationId xmlns:a16="http://schemas.microsoft.com/office/drawing/2014/main" id="{AD8CAB8D-414E-BF26-5C69-180B88A853E5}"/>
              </a:ext>
            </a:extLst>
          </p:cNvPr>
          <p:cNvCxnSpPr>
            <a:cxnSpLocks/>
          </p:cNvCxnSpPr>
          <p:nvPr/>
        </p:nvCxnSpPr>
        <p:spPr>
          <a:xfrm>
            <a:off x="3908963" y="1616461"/>
            <a:ext cx="365760"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cxnSp>
        <p:nvCxnSpPr>
          <p:cNvPr id="85" name="Straight Connector 84">
            <a:extLst>
              <a:ext uri="{FF2B5EF4-FFF2-40B4-BE49-F238E27FC236}">
                <a16:creationId xmlns:a16="http://schemas.microsoft.com/office/drawing/2014/main" id="{56CC0D63-4965-5749-5B54-576952B5AAA6}"/>
              </a:ext>
            </a:extLst>
          </p:cNvPr>
          <p:cNvCxnSpPr>
            <a:cxnSpLocks/>
          </p:cNvCxnSpPr>
          <p:nvPr/>
        </p:nvCxnSpPr>
        <p:spPr>
          <a:xfrm>
            <a:off x="317403" y="3470504"/>
            <a:ext cx="571821"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sp>
        <p:nvSpPr>
          <p:cNvPr id="14" name="Rectangle 13">
            <a:extLst>
              <a:ext uri="{FF2B5EF4-FFF2-40B4-BE49-F238E27FC236}">
                <a16:creationId xmlns:a16="http://schemas.microsoft.com/office/drawing/2014/main" id="{B4F5BCDD-D919-F499-5F1E-703047A6908B}"/>
              </a:ext>
            </a:extLst>
          </p:cNvPr>
          <p:cNvSpPr/>
          <p:nvPr/>
        </p:nvSpPr>
        <p:spPr>
          <a:xfrm>
            <a:off x="0" y="-496"/>
            <a:ext cx="9144000" cy="1388778"/>
          </a:xfrm>
          <a:prstGeom prst="rect">
            <a:avLst/>
          </a:prstGeom>
          <a:solidFill>
            <a:srgbClr val="0F9CD8"/>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15" name="TextBox 14">
            <a:extLst>
              <a:ext uri="{FF2B5EF4-FFF2-40B4-BE49-F238E27FC236}">
                <a16:creationId xmlns:a16="http://schemas.microsoft.com/office/drawing/2014/main" id="{12BC6BAC-D7EB-66C4-4846-9DB611FF758E}"/>
              </a:ext>
            </a:extLst>
          </p:cNvPr>
          <p:cNvSpPr txBox="1"/>
          <p:nvPr/>
        </p:nvSpPr>
        <p:spPr>
          <a:xfrm>
            <a:off x="2284908" y="833748"/>
            <a:ext cx="1704313" cy="300082"/>
          </a:xfrm>
          <a:prstGeom prst="rect">
            <a:avLst/>
          </a:prstGeom>
          <a:noFill/>
        </p:spPr>
        <p:txBody>
          <a:bodyPr wrap="none" rtlCol="0">
            <a:spAutoFit/>
          </a:bodyPr>
          <a:lstStyle/>
          <a:p>
            <a:pPr defTabSz="685800" fontAlgn="auto">
              <a:spcBef>
                <a:spcPts val="0"/>
              </a:spcBef>
              <a:spcAft>
                <a:spcPts val="0"/>
              </a:spcAft>
              <a:defRPr/>
            </a:pPr>
            <a:r>
              <a:rPr lang="en-US" sz="1350" dirty="0" err="1">
                <a:solidFill>
                  <a:prstClr val="white"/>
                </a:solidFill>
                <a:cs typeface="Arial" panose="020B0604020202020204" pitchFamily="34" charset="0"/>
              </a:rPr>
              <a:t>Fullstack</a:t>
            </a:r>
            <a:r>
              <a:rPr lang="en-US" sz="1350" dirty="0">
                <a:solidFill>
                  <a:prstClr val="white"/>
                </a:solidFill>
                <a:cs typeface="Arial" panose="020B0604020202020204" pitchFamily="34" charset="0"/>
              </a:rPr>
              <a:t> Developer</a:t>
            </a:r>
            <a:endParaRPr lang="en-GB" sz="1350" dirty="0">
              <a:solidFill>
                <a:prstClr val="white"/>
              </a:solidFill>
              <a:cs typeface="Arial" panose="020B0604020202020204" pitchFamily="34" charset="0"/>
            </a:endParaRPr>
          </a:p>
        </p:txBody>
      </p:sp>
      <p:sp>
        <p:nvSpPr>
          <p:cNvPr id="16" name="Rectangle: Rounded Corners 15">
            <a:extLst>
              <a:ext uri="{FF2B5EF4-FFF2-40B4-BE49-F238E27FC236}">
                <a16:creationId xmlns:a16="http://schemas.microsoft.com/office/drawing/2014/main" id="{9F9699C9-12BA-412B-F3B4-BD4752EEFA91}"/>
              </a:ext>
            </a:extLst>
          </p:cNvPr>
          <p:cNvSpPr/>
          <p:nvPr/>
        </p:nvSpPr>
        <p:spPr>
          <a:xfrm>
            <a:off x="1648532" y="453062"/>
            <a:ext cx="2979116" cy="310157"/>
          </a:xfrm>
          <a:prstGeom prst="roundRect">
            <a:avLst>
              <a:gd name="adj" fmla="val 50000"/>
            </a:avLst>
          </a:prstGeom>
          <a:solidFill>
            <a:sysClr val="window" lastClr="FFFFFF"/>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r>
              <a:rPr lang="de-DE" sz="1500" b="1" kern="0" dirty="0">
                <a:solidFill>
                  <a:prstClr val="black"/>
                </a:solidFill>
                <a:cs typeface="Arial" panose="020B0604020202020204" pitchFamily="34" charset="0"/>
              </a:rPr>
              <a:t>Bogdan Dinu</a:t>
            </a:r>
            <a:endParaRPr kumimoji="0" lang="de-DE" sz="1500" b="1" i="0" u="none" strike="noStrike" kern="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Google Shape;1008;gd30ca07670_1_0">
            <a:extLst>
              <a:ext uri="{FF2B5EF4-FFF2-40B4-BE49-F238E27FC236}">
                <a16:creationId xmlns:a16="http://schemas.microsoft.com/office/drawing/2014/main" id="{4C9B7DF9-83B8-F601-AB06-6EE892046704}"/>
              </a:ext>
            </a:extLst>
          </p:cNvPr>
          <p:cNvSpPr/>
          <p:nvPr/>
        </p:nvSpPr>
        <p:spPr>
          <a:xfrm rot="-2746759">
            <a:off x="7114855" y="210816"/>
            <a:ext cx="431240" cy="475858"/>
          </a:xfrm>
          <a:prstGeom prst="halfFrame">
            <a:avLst>
              <a:gd name="adj1" fmla="val 33333"/>
              <a:gd name="adj2" fmla="val 33333"/>
            </a:avLst>
          </a:prstGeom>
          <a:solidFill>
            <a:srgbClr val="D5E5F8"/>
          </a:solidFill>
          <a:ln>
            <a:noFill/>
          </a:ln>
        </p:spPr>
        <p:txBody>
          <a:bodyPr spcFirstLastPara="1" wrap="square" lIns="91425" tIns="45700" rIns="91425" bIns="45700" anchor="ctr" anchorCtr="0">
            <a:noAutofit/>
          </a:bodyPr>
          <a:lstStyle/>
          <a:p>
            <a:pPr algn="ctr" defTabSz="685800" fontAlgn="auto">
              <a:spcBef>
                <a:spcPts val="0"/>
              </a:spcBef>
              <a:spcAft>
                <a:spcPts val="0"/>
              </a:spcAft>
              <a:defRPr/>
            </a:pPr>
            <a:endParaRPr sz="1164">
              <a:solidFill>
                <a:srgbClr val="D5E5F8"/>
              </a:solidFill>
              <a:latin typeface="Calibri"/>
              <a:ea typeface="Calibri"/>
              <a:cs typeface="Calibri"/>
              <a:sym typeface="Calibri"/>
            </a:endParaRPr>
          </a:p>
        </p:txBody>
      </p:sp>
      <p:sp>
        <p:nvSpPr>
          <p:cNvPr id="19" name="Google Shape;1009;gd30ca07670_1_0">
            <a:extLst>
              <a:ext uri="{FF2B5EF4-FFF2-40B4-BE49-F238E27FC236}">
                <a16:creationId xmlns:a16="http://schemas.microsoft.com/office/drawing/2014/main" id="{98DEF7F3-8629-2E28-EA05-1069632F2834}"/>
              </a:ext>
            </a:extLst>
          </p:cNvPr>
          <p:cNvSpPr/>
          <p:nvPr/>
        </p:nvSpPr>
        <p:spPr>
          <a:xfrm rot="-2746759">
            <a:off x="7412130" y="210816"/>
            <a:ext cx="431240" cy="475858"/>
          </a:xfrm>
          <a:prstGeom prst="halfFrame">
            <a:avLst>
              <a:gd name="adj1" fmla="val 33333"/>
              <a:gd name="adj2" fmla="val 33333"/>
            </a:avLst>
          </a:prstGeom>
          <a:solidFill>
            <a:srgbClr val="D5E5F8"/>
          </a:solidFill>
          <a:ln>
            <a:noFill/>
          </a:ln>
        </p:spPr>
        <p:txBody>
          <a:bodyPr spcFirstLastPara="1" wrap="square" lIns="91425" tIns="45700" rIns="91425" bIns="45700" anchor="ctr" anchorCtr="0">
            <a:noAutofit/>
          </a:bodyPr>
          <a:lstStyle/>
          <a:p>
            <a:pPr algn="ctr" defTabSz="685800" fontAlgn="auto">
              <a:spcBef>
                <a:spcPts val="0"/>
              </a:spcBef>
              <a:spcAft>
                <a:spcPts val="0"/>
              </a:spcAft>
              <a:defRPr/>
            </a:pPr>
            <a:endParaRPr sz="1164">
              <a:solidFill>
                <a:srgbClr val="000000"/>
              </a:solidFill>
              <a:latin typeface="Calibri"/>
              <a:ea typeface="Calibri"/>
              <a:cs typeface="Calibri"/>
              <a:sym typeface="Calibri"/>
            </a:endParaRPr>
          </a:p>
        </p:txBody>
      </p:sp>
      <p:sp>
        <p:nvSpPr>
          <p:cNvPr id="20" name="Google Shape;1010;gd30ca07670_1_0">
            <a:extLst>
              <a:ext uri="{FF2B5EF4-FFF2-40B4-BE49-F238E27FC236}">
                <a16:creationId xmlns:a16="http://schemas.microsoft.com/office/drawing/2014/main" id="{4CFC9052-F5A5-D9FF-C713-498F51013CC9}"/>
              </a:ext>
            </a:extLst>
          </p:cNvPr>
          <p:cNvSpPr/>
          <p:nvPr/>
        </p:nvSpPr>
        <p:spPr>
          <a:xfrm rot="-2746759">
            <a:off x="7725834" y="210815"/>
            <a:ext cx="431240" cy="475858"/>
          </a:xfrm>
          <a:prstGeom prst="halfFrame">
            <a:avLst>
              <a:gd name="adj1" fmla="val 33333"/>
              <a:gd name="adj2" fmla="val 33333"/>
            </a:avLst>
          </a:prstGeom>
          <a:solidFill>
            <a:srgbClr val="8AB7EA"/>
          </a:solidFill>
          <a:ln>
            <a:noFill/>
          </a:ln>
        </p:spPr>
        <p:txBody>
          <a:bodyPr spcFirstLastPara="1" wrap="square" lIns="91425" tIns="45700" rIns="91425" bIns="45700" anchor="ctr" anchorCtr="0">
            <a:noAutofit/>
          </a:bodyPr>
          <a:lstStyle/>
          <a:p>
            <a:pPr algn="ctr" defTabSz="685800" fontAlgn="auto">
              <a:spcBef>
                <a:spcPts val="0"/>
              </a:spcBef>
              <a:spcAft>
                <a:spcPts val="0"/>
              </a:spcAft>
              <a:defRPr/>
            </a:pPr>
            <a:endParaRPr sz="1164">
              <a:solidFill>
                <a:srgbClr val="8AB7EA"/>
              </a:solidFill>
              <a:latin typeface="Calibri"/>
              <a:ea typeface="Calibri"/>
              <a:cs typeface="Calibri"/>
              <a:sym typeface="Calibri"/>
            </a:endParaRPr>
          </a:p>
        </p:txBody>
      </p:sp>
      <p:pic>
        <p:nvPicPr>
          <p:cNvPr id="21" name="Picture 20" descr="A blue text on a black background&#10;&#10;Description automatically generated">
            <a:extLst>
              <a:ext uri="{FF2B5EF4-FFF2-40B4-BE49-F238E27FC236}">
                <a16:creationId xmlns:a16="http://schemas.microsoft.com/office/drawing/2014/main" id="{7CC8CB8F-5135-D3BB-4563-6DB1587AA3C2}"/>
              </a:ext>
            </a:extLst>
          </p:cNvPr>
          <p:cNvPicPr>
            <a:picLocks noChangeAspect="1"/>
          </p:cNvPicPr>
          <p:nvPr/>
        </p:nvPicPr>
        <p:blipFill>
          <a:blip r:embed="rId2" cstate="print">
            <a:biLevel thresh="25000"/>
            <a:extLst>
              <a:ext uri="{28A0092B-C50C-407E-A947-70E740481C1C}">
                <a14:useLocalDpi xmlns:a14="http://schemas.microsoft.com/office/drawing/2010/main" val="0"/>
              </a:ext>
            </a:extLst>
          </a:blip>
          <a:stretch>
            <a:fillRect/>
          </a:stretch>
        </p:blipFill>
        <p:spPr>
          <a:xfrm>
            <a:off x="8105650" y="232645"/>
            <a:ext cx="924311" cy="469647"/>
          </a:xfrm>
          <a:prstGeom prst="rect">
            <a:avLst/>
          </a:prstGeom>
        </p:spPr>
      </p:pic>
      <p:pic>
        <p:nvPicPr>
          <p:cNvPr id="22" name="Picture 21">
            <a:extLst>
              <a:ext uri="{FF2B5EF4-FFF2-40B4-BE49-F238E27FC236}">
                <a16:creationId xmlns:a16="http://schemas.microsoft.com/office/drawing/2014/main" id="{994D9F81-6102-AF87-E4C4-2E32F76F0FF2}"/>
              </a:ext>
            </a:extLst>
          </p:cNvPr>
          <p:cNvPicPr>
            <a:picLocks noChangeAspect="1"/>
          </p:cNvPicPr>
          <p:nvPr/>
        </p:nvPicPr>
        <p:blipFill>
          <a:blip r:embed="rId3" cstate="print">
            <a:extLst>
              <a:ext uri="{28A0092B-C50C-407E-A947-70E740481C1C}">
                <a14:useLocalDpi xmlns:a14="http://schemas.microsoft.com/office/drawing/2010/main" val="0"/>
              </a:ext>
            </a:extLst>
          </a:blip>
          <a:srcRect t="667" b="667"/>
          <a:stretch/>
        </p:blipFill>
        <p:spPr>
          <a:xfrm>
            <a:off x="243057" y="46666"/>
            <a:ext cx="1240955" cy="1240955"/>
          </a:xfrm>
          <a:prstGeom prst="ellipse">
            <a:avLst/>
          </a:prstGeom>
          <a:ln w="38100">
            <a:solidFill>
              <a:sysClr val="window" lastClr="FFFFFF"/>
            </a:solidFill>
          </a:ln>
        </p:spPr>
      </p:pic>
      <p:pic>
        <p:nvPicPr>
          <p:cNvPr id="25" name="Graphic 24" descr="Envelope">
            <a:extLst>
              <a:ext uri="{FF2B5EF4-FFF2-40B4-BE49-F238E27FC236}">
                <a16:creationId xmlns:a16="http://schemas.microsoft.com/office/drawing/2014/main" id="{7C4C9CB7-7765-3AC4-F2B8-2F03ADE20BA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48531" y="1078750"/>
            <a:ext cx="295556" cy="295556"/>
          </a:xfrm>
          <a:prstGeom prst="rect">
            <a:avLst/>
          </a:prstGeom>
        </p:spPr>
      </p:pic>
      <p:pic>
        <p:nvPicPr>
          <p:cNvPr id="26" name="Graphic 25" descr="Marker">
            <a:extLst>
              <a:ext uri="{FF2B5EF4-FFF2-40B4-BE49-F238E27FC236}">
                <a16:creationId xmlns:a16="http://schemas.microsoft.com/office/drawing/2014/main" id="{BFEA2A08-F489-E81B-C935-8B74CBD1FCA4}"/>
              </a:ext>
            </a:extLst>
          </p:cNvPr>
          <p:cNvPicPr>
            <a:picLocks noChangeAspect="1"/>
          </p:cNvPicPr>
          <p:nvPr/>
        </p:nvPicPr>
        <p:blipFill>
          <a:blip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92051" y="1064254"/>
            <a:ext cx="295557" cy="295557"/>
          </a:xfrm>
          <a:prstGeom prst="rect">
            <a:avLst/>
          </a:prstGeom>
        </p:spPr>
      </p:pic>
      <p:sp>
        <p:nvSpPr>
          <p:cNvPr id="27" name="TextBox 26">
            <a:extLst>
              <a:ext uri="{FF2B5EF4-FFF2-40B4-BE49-F238E27FC236}">
                <a16:creationId xmlns:a16="http://schemas.microsoft.com/office/drawing/2014/main" id="{6D493B3B-D9CE-3E35-9225-18448E0401E7}"/>
              </a:ext>
            </a:extLst>
          </p:cNvPr>
          <p:cNvSpPr txBox="1"/>
          <p:nvPr/>
        </p:nvSpPr>
        <p:spPr>
          <a:xfrm>
            <a:off x="7770637" y="1103418"/>
            <a:ext cx="1373875" cy="246221"/>
          </a:xfrm>
          <a:prstGeom prst="rect">
            <a:avLst/>
          </a:prstGeom>
          <a:noFill/>
        </p:spPr>
        <p:txBody>
          <a:bodyPr wrap="square" rtlCol="0">
            <a:spAutoFit/>
          </a:bodyPr>
          <a:lstStyle/>
          <a:p>
            <a:pPr defTabSz="685800" fontAlgn="auto">
              <a:spcBef>
                <a:spcPts val="0"/>
              </a:spcBef>
              <a:spcAft>
                <a:spcPts val="0"/>
              </a:spcAft>
              <a:defRPr/>
            </a:pPr>
            <a:r>
              <a:rPr lang="de-DE" sz="1000" dirty="0">
                <a:solidFill>
                  <a:schemeClr val="bg1"/>
                </a:solidFill>
                <a:cs typeface="Arial" panose="020B0604020202020204" pitchFamily="34" charset="0"/>
              </a:rPr>
              <a:t>Bucharest, Romania</a:t>
            </a:r>
          </a:p>
        </p:txBody>
      </p:sp>
      <p:sp>
        <p:nvSpPr>
          <p:cNvPr id="28" name="TextBox 27">
            <a:extLst>
              <a:ext uri="{FF2B5EF4-FFF2-40B4-BE49-F238E27FC236}">
                <a16:creationId xmlns:a16="http://schemas.microsoft.com/office/drawing/2014/main" id="{E46D7527-DA25-27BE-72C0-DBA0FD1AB64D}"/>
              </a:ext>
            </a:extLst>
          </p:cNvPr>
          <p:cNvSpPr txBox="1"/>
          <p:nvPr/>
        </p:nvSpPr>
        <p:spPr>
          <a:xfrm>
            <a:off x="5662749" y="1103418"/>
            <a:ext cx="1975007" cy="246221"/>
          </a:xfrm>
          <a:prstGeom prst="rect">
            <a:avLst/>
          </a:prstGeom>
          <a:noFill/>
        </p:spPr>
        <p:txBody>
          <a:bodyPr wrap="square" rtlCol="0">
            <a:spAutoFit/>
          </a:bodyPr>
          <a:lstStyle/>
          <a:p>
            <a:pPr defTabSz="685800" fontAlgn="auto">
              <a:spcBef>
                <a:spcPts val="0"/>
              </a:spcBef>
              <a:spcAft>
                <a:spcPts val="0"/>
              </a:spcAft>
              <a:defRPr/>
            </a:pPr>
            <a:r>
              <a:rPr lang="en-GB" sz="1000" dirty="0">
                <a:solidFill>
                  <a:schemeClr val="bg1"/>
                </a:solidFill>
                <a:cs typeface="Arial" panose="020B0604020202020204" pitchFamily="34" charset="0"/>
              </a:rPr>
              <a:t>bogdanradu.dinu@infosys.com</a:t>
            </a:r>
          </a:p>
        </p:txBody>
      </p:sp>
      <p:cxnSp>
        <p:nvCxnSpPr>
          <p:cNvPr id="30" name="Straight Connector 29">
            <a:extLst>
              <a:ext uri="{FF2B5EF4-FFF2-40B4-BE49-F238E27FC236}">
                <a16:creationId xmlns:a16="http://schemas.microsoft.com/office/drawing/2014/main" id="{98E753AF-AD4D-42AF-963B-E00F03825044}"/>
              </a:ext>
            </a:extLst>
          </p:cNvPr>
          <p:cNvCxnSpPr>
            <a:cxnSpLocks/>
          </p:cNvCxnSpPr>
          <p:nvPr/>
        </p:nvCxnSpPr>
        <p:spPr>
          <a:xfrm>
            <a:off x="243055" y="4256557"/>
            <a:ext cx="3489609" cy="0"/>
          </a:xfrm>
          <a:prstGeom prst="line">
            <a:avLst/>
          </a:prstGeom>
          <a:gradFill flip="none" rotWithShape="1">
            <a:gsLst>
              <a:gs pos="50000">
                <a:srgbClr val="E5546C">
                  <a:alpha val="52000"/>
                </a:srgbClr>
              </a:gs>
              <a:gs pos="97000">
                <a:srgbClr val="A53094">
                  <a:alpha val="98000"/>
                </a:srgbClr>
              </a:gs>
            </a:gsLst>
            <a:lin ang="5400000" scaled="1"/>
            <a:tileRect/>
          </a:gradFill>
          <a:ln w="6350" cap="flat">
            <a:solidFill>
              <a:schemeClr val="tx1">
                <a:lumMod val="50000"/>
                <a:lumOff val="50000"/>
              </a:schemeClr>
            </a:solidFill>
            <a:prstDash val="lgDash"/>
            <a:round/>
          </a:ln>
          <a:effectLst/>
          <a:sp3d/>
        </p:spPr>
        <p:style>
          <a:lnRef idx="0">
            <a:scrgbClr r="0" g="0" b="0"/>
          </a:lnRef>
          <a:fillRef idx="0">
            <a:scrgbClr r="0" g="0" b="0"/>
          </a:fillRef>
          <a:effectRef idx="0">
            <a:scrgbClr r="0" g="0" b="0"/>
          </a:effectRef>
          <a:fontRef idx="none"/>
        </p:style>
      </p:cxnSp>
      <p:sp>
        <p:nvSpPr>
          <p:cNvPr id="31" name="Rectangle 30">
            <a:extLst>
              <a:ext uri="{FF2B5EF4-FFF2-40B4-BE49-F238E27FC236}">
                <a16:creationId xmlns:a16="http://schemas.microsoft.com/office/drawing/2014/main" id="{51A0A588-DAFE-917E-0C30-02F35F78AE0A}"/>
              </a:ext>
            </a:extLst>
          </p:cNvPr>
          <p:cNvSpPr/>
          <p:nvPr/>
        </p:nvSpPr>
        <p:spPr>
          <a:xfrm>
            <a:off x="251008" y="4402563"/>
            <a:ext cx="2422463" cy="27432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   Areas of expertise</a:t>
            </a:r>
          </a:p>
        </p:txBody>
      </p:sp>
      <p:cxnSp>
        <p:nvCxnSpPr>
          <p:cNvPr id="32" name="Straight Connector 31">
            <a:extLst>
              <a:ext uri="{FF2B5EF4-FFF2-40B4-BE49-F238E27FC236}">
                <a16:creationId xmlns:a16="http://schemas.microsoft.com/office/drawing/2014/main" id="{4526F740-D3C3-85C2-2100-4D47A199378C}"/>
              </a:ext>
            </a:extLst>
          </p:cNvPr>
          <p:cNvCxnSpPr>
            <a:cxnSpLocks/>
          </p:cNvCxnSpPr>
          <p:nvPr/>
        </p:nvCxnSpPr>
        <p:spPr>
          <a:xfrm>
            <a:off x="317403" y="4539723"/>
            <a:ext cx="571821"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sp>
        <p:nvSpPr>
          <p:cNvPr id="33" name="TextBox 32">
            <a:extLst>
              <a:ext uri="{FF2B5EF4-FFF2-40B4-BE49-F238E27FC236}">
                <a16:creationId xmlns:a16="http://schemas.microsoft.com/office/drawing/2014/main" id="{29A19229-82AC-2498-4D4E-461647E24A12}"/>
              </a:ext>
            </a:extLst>
          </p:cNvPr>
          <p:cNvSpPr txBox="1"/>
          <p:nvPr/>
        </p:nvSpPr>
        <p:spPr>
          <a:xfrm>
            <a:off x="251009" y="4790962"/>
            <a:ext cx="3548984" cy="707886"/>
          </a:xfrm>
          <a:prstGeom prst="rect">
            <a:avLst/>
          </a:prstGeom>
          <a:noFill/>
        </p:spPr>
        <p:txBody>
          <a:bodyPr wrap="square" rtlCol="0">
            <a:spAutoFit/>
          </a:bodyPr>
          <a:lstStyle/>
          <a:p>
            <a:pPr marL="171446" indent="-171446" defTabSz="457189" fontAlgn="auto" hangingPunct="0">
              <a:spcBef>
                <a:spcPts val="0"/>
              </a:spcBef>
              <a:spcAft>
                <a:spcPts val="0"/>
              </a:spcAft>
              <a:buFont typeface="Arial" panose="020B0604020202020204" pitchFamily="34" charset="0"/>
              <a:buChar char="•"/>
            </a:pPr>
            <a:r>
              <a:rPr lang="en-US" sz="800" b="1" kern="0" dirty="0">
                <a:solidFill>
                  <a:srgbClr val="000000"/>
                </a:solidFill>
                <a:latin typeface="Arial" panose="020B0604020202020204"/>
              </a:rPr>
              <a:t>Languages</a:t>
            </a:r>
            <a:r>
              <a:rPr lang="en-US" sz="800" kern="0" dirty="0">
                <a:solidFill>
                  <a:srgbClr val="000000"/>
                </a:solidFill>
                <a:latin typeface="Arial" panose="020B0604020202020204"/>
              </a:rPr>
              <a:t>: </a:t>
            </a:r>
            <a:r>
              <a:rPr lang="en-GB" sz="800" kern="0" dirty="0">
                <a:latin typeface="Arial" panose="020B0604020202020204"/>
                <a:sym typeface="Calibri"/>
              </a:rPr>
              <a:t>PHP, </a:t>
            </a:r>
            <a:r>
              <a:rPr lang="en-GB" sz="800" kern="0" dirty="0" err="1">
                <a:latin typeface="Arial" panose="020B0604020202020204"/>
                <a:sym typeface="Calibri"/>
              </a:rPr>
              <a:t>Javascript</a:t>
            </a:r>
            <a:r>
              <a:rPr lang="en-GB" sz="800" kern="0" dirty="0">
                <a:latin typeface="Arial" panose="020B0604020202020204"/>
                <a:sym typeface="Calibri"/>
              </a:rPr>
              <a:t>, Python, Java, CSS, bash, </a:t>
            </a:r>
            <a:r>
              <a:rPr lang="en-GB" sz="800" kern="0" dirty="0" err="1">
                <a:latin typeface="Arial" panose="020B0604020202020204"/>
                <a:sym typeface="Calibri"/>
              </a:rPr>
              <a:t>websockets</a:t>
            </a:r>
            <a:endParaRPr lang="en-US" sz="800" kern="0" dirty="0">
              <a:solidFill>
                <a:srgbClr val="000000"/>
              </a:solidFill>
              <a:latin typeface="Arial" panose="020B0604020202020204"/>
            </a:endParaRPr>
          </a:p>
          <a:p>
            <a:pPr marL="171446" indent="-171446" defTabSz="457189" fontAlgn="auto" hangingPunct="0">
              <a:spcBef>
                <a:spcPts val="0"/>
              </a:spcBef>
              <a:spcAft>
                <a:spcPts val="0"/>
              </a:spcAft>
              <a:buFont typeface="Arial" panose="020B0604020202020204" pitchFamily="34" charset="0"/>
              <a:buChar char="•"/>
            </a:pPr>
            <a:r>
              <a:rPr lang="en-US" sz="800" b="1" kern="0" dirty="0">
                <a:solidFill>
                  <a:srgbClr val="000000"/>
                </a:solidFill>
                <a:latin typeface="Arial" panose="020B0604020202020204"/>
              </a:rPr>
              <a:t>Frameworks</a:t>
            </a:r>
            <a:r>
              <a:rPr lang="en-US" sz="800" kern="0" dirty="0">
                <a:solidFill>
                  <a:srgbClr val="000000"/>
                </a:solidFill>
                <a:latin typeface="Arial" panose="020B0604020202020204"/>
              </a:rPr>
              <a:t>: </a:t>
            </a:r>
            <a:r>
              <a:rPr lang="en-GB" sz="800" kern="0" dirty="0">
                <a:latin typeface="Arial" panose="020B0604020202020204"/>
                <a:sym typeface="Calibri"/>
              </a:rPr>
              <a:t>Drupal, </a:t>
            </a:r>
            <a:r>
              <a:rPr lang="en-GB" sz="800" kern="0" dirty="0" err="1">
                <a:latin typeface="Arial" panose="020B0604020202020204"/>
                <a:sym typeface="Calibri"/>
              </a:rPr>
              <a:t>Wordpress</a:t>
            </a:r>
            <a:r>
              <a:rPr lang="en-GB" sz="800" kern="0" dirty="0">
                <a:latin typeface="Arial" panose="020B0604020202020204"/>
                <a:sym typeface="Calibri"/>
              </a:rPr>
              <a:t>, Django, Laravel, Zend, CodeIgniter, Magento, </a:t>
            </a:r>
            <a:r>
              <a:rPr lang="en-GB" sz="800" kern="0" dirty="0" err="1">
                <a:latin typeface="Arial" panose="020B0604020202020204"/>
                <a:sym typeface="Calibri"/>
              </a:rPr>
              <a:t>PrestaShop</a:t>
            </a:r>
            <a:r>
              <a:rPr lang="en-GB" sz="800" kern="0" dirty="0">
                <a:latin typeface="Arial" panose="020B0604020202020204"/>
                <a:sym typeface="Calibri"/>
              </a:rPr>
              <a:t>, </a:t>
            </a:r>
            <a:r>
              <a:rPr lang="en-GB" sz="800" kern="0" dirty="0" err="1">
                <a:latin typeface="Arial" panose="020B0604020202020204"/>
                <a:sym typeface="Calibri"/>
              </a:rPr>
              <a:t>VueJS</a:t>
            </a:r>
            <a:endParaRPr lang="en-US" sz="800" kern="0" dirty="0">
              <a:solidFill>
                <a:srgbClr val="000000"/>
              </a:solidFill>
              <a:latin typeface="Arial" panose="020B0604020202020204"/>
            </a:endParaRPr>
          </a:p>
          <a:p>
            <a:pPr marL="171446" indent="-171446" defTabSz="457189" fontAlgn="auto" hangingPunct="0">
              <a:spcBef>
                <a:spcPts val="0"/>
              </a:spcBef>
              <a:spcAft>
                <a:spcPts val="0"/>
              </a:spcAft>
              <a:buFont typeface="Arial" panose="020B0604020202020204" pitchFamily="34" charset="0"/>
              <a:buChar char="•"/>
            </a:pPr>
            <a:r>
              <a:rPr lang="en-US" sz="800" b="1" kern="0" dirty="0">
                <a:solidFill>
                  <a:srgbClr val="000000"/>
                </a:solidFill>
                <a:latin typeface="Arial" panose="020B0604020202020204"/>
              </a:rPr>
              <a:t>Database</a:t>
            </a:r>
            <a:r>
              <a:rPr lang="en-US" sz="800" kern="0" dirty="0">
                <a:solidFill>
                  <a:srgbClr val="000000"/>
                </a:solidFill>
                <a:latin typeface="Arial" panose="020B0604020202020204"/>
              </a:rPr>
              <a:t>: MySQL, PostgreSQL, Oracle</a:t>
            </a:r>
          </a:p>
          <a:p>
            <a:pPr marL="171446" indent="-171446" defTabSz="457189" fontAlgn="auto" hangingPunct="0">
              <a:spcBef>
                <a:spcPts val="0"/>
              </a:spcBef>
              <a:spcAft>
                <a:spcPts val="0"/>
              </a:spcAft>
              <a:buFont typeface="Arial" panose="020B0604020202020204" pitchFamily="34" charset="0"/>
              <a:buChar char="•"/>
            </a:pPr>
            <a:r>
              <a:rPr lang="en-US" sz="800" b="1" kern="0" dirty="0">
                <a:solidFill>
                  <a:srgbClr val="000000"/>
                </a:solidFill>
                <a:latin typeface="Arial" panose="020B0604020202020204"/>
              </a:rPr>
              <a:t>Versioning</a:t>
            </a:r>
            <a:r>
              <a:rPr lang="en-US" sz="800" kern="0" dirty="0">
                <a:solidFill>
                  <a:srgbClr val="000000"/>
                </a:solidFill>
                <a:latin typeface="Arial" panose="020B0604020202020204"/>
              </a:rPr>
              <a:t>: GitLab, GitHub, Bitbucket</a:t>
            </a:r>
          </a:p>
        </p:txBody>
      </p:sp>
    </p:spTree>
    <p:extLst>
      <p:ext uri="{BB962C8B-B14F-4D97-AF65-F5344CB8AC3E}">
        <p14:creationId xmlns:p14="http://schemas.microsoft.com/office/powerpoint/2010/main" val="1055287663"/>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9EF11-250B-6115-5A73-D97B450594D1}"/>
            </a:ext>
          </a:extLst>
        </p:cNvPr>
        <p:cNvGrpSpPr/>
        <p:nvPr/>
      </p:nvGrpSpPr>
      <p:grpSpPr>
        <a:xfrm>
          <a:off x="0" y="0"/>
          <a:ext cx="0" cy="0"/>
          <a:chOff x="0" y="0"/>
          <a:chExt cx="0" cy="0"/>
        </a:xfrm>
      </p:grpSpPr>
      <p:sp>
        <p:nvSpPr>
          <p:cNvPr id="58" name="Rectangle: Single Corner Rounded 57">
            <a:extLst>
              <a:ext uri="{FF2B5EF4-FFF2-40B4-BE49-F238E27FC236}">
                <a16:creationId xmlns:a16="http://schemas.microsoft.com/office/drawing/2014/main" id="{9EDD2122-F148-AEE2-840D-D14CD941E4B9}"/>
              </a:ext>
            </a:extLst>
          </p:cNvPr>
          <p:cNvSpPr/>
          <p:nvPr/>
        </p:nvSpPr>
        <p:spPr>
          <a:xfrm>
            <a:off x="243056" y="482614"/>
            <a:ext cx="8717261" cy="5115103"/>
          </a:xfrm>
          <a:prstGeom prst="round1Rect">
            <a:avLst>
              <a:gd name="adj" fmla="val 11205"/>
            </a:avLst>
          </a:prstGeom>
          <a:solidFill>
            <a:schemeClr val="bg1">
              <a:lumMod val="9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noAutofit/>
          </a:bodyPr>
          <a:lstStyle/>
          <a:p>
            <a:pPr defTabSz="457189" fontAlgn="auto" hangingPunct="0">
              <a:spcBef>
                <a:spcPts val="0"/>
              </a:spcBef>
              <a:spcAft>
                <a:spcPts val="0"/>
              </a:spcAft>
            </a:pPr>
            <a:endParaRPr lang="en-US" kern="0" dirty="0">
              <a:solidFill>
                <a:srgbClr val="000000"/>
              </a:solidFill>
              <a:latin typeface="Arial" panose="020B0604020202020204"/>
              <a:sym typeface="Calibri"/>
            </a:endParaRPr>
          </a:p>
        </p:txBody>
      </p:sp>
      <p:sp>
        <p:nvSpPr>
          <p:cNvPr id="59" name="Rectangle 58">
            <a:extLst>
              <a:ext uri="{FF2B5EF4-FFF2-40B4-BE49-F238E27FC236}">
                <a16:creationId xmlns:a16="http://schemas.microsoft.com/office/drawing/2014/main" id="{06E66CF4-070D-B1AE-C553-189F74AAE8E4}"/>
              </a:ext>
            </a:extLst>
          </p:cNvPr>
          <p:cNvSpPr/>
          <p:nvPr/>
        </p:nvSpPr>
        <p:spPr>
          <a:xfrm>
            <a:off x="235107" y="366125"/>
            <a:ext cx="2422463" cy="27432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                Certifications &amp; Trainings</a:t>
            </a:r>
          </a:p>
        </p:txBody>
      </p:sp>
      <p:sp>
        <p:nvSpPr>
          <p:cNvPr id="61" name="Rectangle 60">
            <a:extLst>
              <a:ext uri="{FF2B5EF4-FFF2-40B4-BE49-F238E27FC236}">
                <a16:creationId xmlns:a16="http://schemas.microsoft.com/office/drawing/2014/main" id="{7FE9D366-C950-8292-4569-CA521783A00C}"/>
              </a:ext>
            </a:extLst>
          </p:cNvPr>
          <p:cNvSpPr/>
          <p:nvPr/>
        </p:nvSpPr>
        <p:spPr>
          <a:xfrm>
            <a:off x="3797291" y="366125"/>
            <a:ext cx="2422463" cy="2743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                Languages &amp; Soft Skills</a:t>
            </a:r>
          </a:p>
        </p:txBody>
      </p:sp>
      <p:sp>
        <p:nvSpPr>
          <p:cNvPr id="62" name="TextBox 61">
            <a:extLst>
              <a:ext uri="{FF2B5EF4-FFF2-40B4-BE49-F238E27FC236}">
                <a16:creationId xmlns:a16="http://schemas.microsoft.com/office/drawing/2014/main" id="{949CFA61-AFF9-12A8-8072-B2F224C77131}"/>
              </a:ext>
            </a:extLst>
          </p:cNvPr>
          <p:cNvSpPr txBox="1"/>
          <p:nvPr/>
        </p:nvSpPr>
        <p:spPr>
          <a:xfrm>
            <a:off x="252690" y="713126"/>
            <a:ext cx="3548984" cy="1523494"/>
          </a:xfrm>
          <a:prstGeom prst="rect">
            <a:avLst/>
          </a:prstGeom>
          <a:noFill/>
        </p:spPr>
        <p:txBody>
          <a:bodyPr wrap="square" rtlCol="0">
            <a:spAutoFit/>
          </a:bodyPr>
          <a:lstStyle/>
          <a:p>
            <a:pPr lvl="0">
              <a:defRPr/>
            </a:pPr>
            <a:r>
              <a:rPr lang="en-US" sz="900" b="1" u="sng" kern="0" dirty="0">
                <a:solidFill>
                  <a:srgbClr val="000000"/>
                </a:solidFill>
                <a:latin typeface="Arial" panose="020B0604020202020204"/>
              </a:rPr>
              <a:t>Certifications</a:t>
            </a:r>
          </a:p>
          <a:p>
            <a:pPr lvl="0">
              <a:defRPr/>
            </a:pPr>
            <a:endParaRPr lang="en-US" sz="900" b="1" u="sng" kern="0" dirty="0">
              <a:solidFill>
                <a:srgbClr val="000000"/>
              </a:solidFill>
              <a:latin typeface="Arial" panose="020B0604020202020204"/>
            </a:endParaRPr>
          </a:p>
          <a:p>
            <a:pPr marL="171446" indent="-171446" defTabSz="457189" fontAlgn="auto" hangingPunct="0">
              <a:spcBef>
                <a:spcPts val="0"/>
              </a:spcBef>
              <a:spcAft>
                <a:spcPts val="0"/>
              </a:spcAft>
              <a:buFont typeface="Arial" panose="020B0604020202020204" pitchFamily="34" charset="0"/>
              <a:buChar char="•"/>
            </a:pPr>
            <a:r>
              <a:rPr lang="en-GB" sz="800" kern="0" dirty="0">
                <a:latin typeface="Arial" panose="020B0604020202020204"/>
                <a:sym typeface="Calibri"/>
              </a:rPr>
              <a:t>Certified Drupal 11 Developer</a:t>
            </a:r>
          </a:p>
          <a:p>
            <a:pPr marL="171446" indent="-171446" defTabSz="457189" fontAlgn="auto" hangingPunct="0">
              <a:spcBef>
                <a:spcPts val="0"/>
              </a:spcBef>
              <a:spcAft>
                <a:spcPts val="0"/>
              </a:spcAft>
              <a:buFont typeface="Arial" panose="020B0604020202020204" pitchFamily="34" charset="0"/>
              <a:buChar char="•"/>
            </a:pPr>
            <a:r>
              <a:rPr lang="en-GB" sz="800" kern="0" dirty="0">
                <a:latin typeface="Arial" panose="020B0604020202020204"/>
                <a:sym typeface="Calibri"/>
              </a:rPr>
              <a:t>Certified Drupal 9 Site Builder</a:t>
            </a:r>
          </a:p>
          <a:p>
            <a:pPr lvl="0">
              <a:defRPr/>
            </a:pPr>
            <a:endParaRPr lang="en-US" sz="800" kern="0" dirty="0">
              <a:solidFill>
                <a:srgbClr val="000000"/>
              </a:solidFill>
              <a:latin typeface="Arial" panose="020B0604020202020204"/>
            </a:endParaRPr>
          </a:p>
          <a:p>
            <a:pPr lvl="0">
              <a:defRPr/>
            </a:pPr>
            <a:r>
              <a:rPr lang="en-US" sz="900" b="1" u="sng" kern="0" dirty="0">
                <a:solidFill>
                  <a:srgbClr val="000000"/>
                </a:solidFill>
                <a:latin typeface="Arial" panose="020B0604020202020204"/>
              </a:rPr>
              <a:t>Trainings</a:t>
            </a:r>
          </a:p>
          <a:p>
            <a:pPr lvl="0">
              <a:defRPr/>
            </a:pPr>
            <a:endParaRPr lang="en-US" sz="900" b="1" u="sng" kern="0" dirty="0">
              <a:solidFill>
                <a:srgbClr val="000000"/>
              </a:solidFill>
              <a:latin typeface="Arial" panose="020B0604020202020204"/>
            </a:endParaRPr>
          </a:p>
          <a:p>
            <a:pPr indent="-228600">
              <a:buFont typeface="Arial" panose="020B0604020202020204" pitchFamily="34" charset="0"/>
              <a:buChar char="•"/>
              <a:defRPr/>
            </a:pPr>
            <a:r>
              <a:rPr lang="en-US" sz="800" kern="0" dirty="0">
                <a:solidFill>
                  <a:srgbClr val="000000"/>
                </a:solidFill>
                <a:latin typeface="Arial" panose="020B0604020202020204"/>
              </a:rPr>
              <a:t>PL/SQL</a:t>
            </a:r>
          </a:p>
          <a:p>
            <a:pPr indent="-228600">
              <a:buFont typeface="Arial" panose="020B0604020202020204" pitchFamily="34" charset="0"/>
              <a:buChar char="•"/>
              <a:defRPr/>
            </a:pPr>
            <a:r>
              <a:rPr lang="en-US" sz="800" kern="0" dirty="0">
                <a:solidFill>
                  <a:srgbClr val="000000"/>
                </a:solidFill>
                <a:latin typeface="Arial" panose="020B0604020202020204"/>
              </a:rPr>
              <a:t>Drupal content deployment</a:t>
            </a:r>
          </a:p>
          <a:p>
            <a:pPr indent="-228600">
              <a:buFont typeface="Arial" panose="020B0604020202020204" pitchFamily="34" charset="0"/>
              <a:buChar char="•"/>
              <a:defRPr/>
            </a:pPr>
            <a:r>
              <a:rPr lang="en-US" sz="800" kern="0" dirty="0">
                <a:solidFill>
                  <a:srgbClr val="000000"/>
                </a:solidFill>
                <a:latin typeface="Arial" panose="020B0604020202020204"/>
              </a:rPr>
              <a:t>Web accessibility</a:t>
            </a:r>
            <a:endParaRPr lang="en-GB" sz="800" kern="0" dirty="0">
              <a:solidFill>
                <a:srgbClr val="000000"/>
              </a:solidFill>
              <a:latin typeface="Arial" panose="020B0604020202020204"/>
            </a:endParaRPr>
          </a:p>
          <a:p>
            <a:pPr lvl="0">
              <a:defRPr/>
            </a:pPr>
            <a:endParaRPr lang="en-US" sz="900" b="1" u="sng" kern="0" dirty="0">
              <a:solidFill>
                <a:srgbClr val="000000"/>
              </a:solidFill>
              <a:latin typeface="Arial" panose="020B0604020202020204"/>
            </a:endParaRPr>
          </a:p>
        </p:txBody>
      </p:sp>
      <p:sp>
        <p:nvSpPr>
          <p:cNvPr id="63" name="Rectangle 12">
            <a:extLst>
              <a:ext uri="{FF2B5EF4-FFF2-40B4-BE49-F238E27FC236}">
                <a16:creationId xmlns:a16="http://schemas.microsoft.com/office/drawing/2014/main" id="{A7145726-78DD-0610-7C21-7C7860517250}"/>
              </a:ext>
            </a:extLst>
          </p:cNvPr>
          <p:cNvSpPr>
            <a:spLocks noChangeArrowheads="1"/>
          </p:cNvSpPr>
          <p:nvPr/>
        </p:nvSpPr>
        <p:spPr bwMode="auto">
          <a:xfrm>
            <a:off x="3797291" y="671620"/>
            <a:ext cx="3548984" cy="1936405"/>
          </a:xfrm>
          <a:prstGeom prst="rect">
            <a:avLst/>
          </a:prstGeom>
          <a:solidFill>
            <a:schemeClr val="bg1">
              <a:alpha val="0"/>
            </a:schemeClr>
          </a:solidFill>
          <a:ln w="3175">
            <a:noFill/>
            <a:miter lim="800000"/>
            <a:headEnd/>
            <a:tailEnd/>
          </a:ln>
          <a:effectLst/>
        </p:spPr>
        <p:txBody>
          <a:bodyPr lIns="64000" tIns="64000" rIns="64000" bIns="64000" numCol="1"/>
          <a:lstStyle/>
          <a:p>
            <a:pPr defTabSz="457189" fontAlgn="auto" hangingPunct="0">
              <a:spcBef>
                <a:spcPts val="0"/>
              </a:spcBef>
              <a:spcAft>
                <a:spcPts val="0"/>
              </a:spcAft>
            </a:pPr>
            <a:r>
              <a:rPr lang="en-GB" sz="900" b="1" u="sng" kern="0" dirty="0">
                <a:solidFill>
                  <a:srgbClr val="000000"/>
                </a:solidFill>
                <a:latin typeface="Arial" panose="020B0604020202020204"/>
                <a:sym typeface="Calibri"/>
              </a:rPr>
              <a:t>Languages</a:t>
            </a:r>
          </a:p>
          <a:p>
            <a:pPr defTabSz="457189" fontAlgn="auto" hangingPunct="0">
              <a:spcBef>
                <a:spcPts val="0"/>
              </a:spcBef>
              <a:spcAft>
                <a:spcPts val="0"/>
              </a:spcAft>
            </a:pPr>
            <a:endParaRPr lang="en-GB" sz="800" kern="0" dirty="0">
              <a:solidFill>
                <a:srgbClr val="000000"/>
              </a:solidFill>
              <a:latin typeface="Arial" panose="020B0604020202020204"/>
              <a:sym typeface="Calibri"/>
            </a:endParaRPr>
          </a:p>
          <a:p>
            <a:pPr marL="171446" indent="-171446" defTabSz="457189" fontAlgn="auto" hangingPunct="0">
              <a:spcBef>
                <a:spcPts val="0"/>
              </a:spcBef>
              <a:spcAft>
                <a:spcPts val="0"/>
              </a:spcAft>
              <a:buFont typeface="Arial" panose="020B0604020202020204" pitchFamily="34" charset="0"/>
              <a:buChar char="•"/>
            </a:pPr>
            <a:r>
              <a:rPr lang="en-GB" sz="800" kern="0" dirty="0">
                <a:solidFill>
                  <a:srgbClr val="000000"/>
                </a:solidFill>
                <a:latin typeface="Arial" panose="020B0604020202020204"/>
                <a:sym typeface="Calibri"/>
              </a:rPr>
              <a:t>English - Proficient</a:t>
            </a:r>
          </a:p>
          <a:p>
            <a:pPr marL="171446" indent="-171446" defTabSz="457189" fontAlgn="auto" hangingPunct="0">
              <a:spcBef>
                <a:spcPts val="0"/>
              </a:spcBef>
              <a:spcAft>
                <a:spcPts val="0"/>
              </a:spcAft>
              <a:buFont typeface="Arial" panose="020B0604020202020204" pitchFamily="34" charset="0"/>
              <a:buChar char="•"/>
            </a:pPr>
            <a:r>
              <a:rPr lang="en-GB" sz="800" kern="0" dirty="0">
                <a:solidFill>
                  <a:srgbClr val="000000"/>
                </a:solidFill>
                <a:latin typeface="Arial" panose="020B0604020202020204"/>
                <a:sym typeface="Calibri"/>
              </a:rPr>
              <a:t>French - Advanced</a:t>
            </a:r>
          </a:p>
          <a:p>
            <a:pPr marL="171446" indent="-171446" defTabSz="457189" fontAlgn="auto" hangingPunct="0">
              <a:spcBef>
                <a:spcPts val="0"/>
              </a:spcBef>
              <a:spcAft>
                <a:spcPts val="0"/>
              </a:spcAft>
              <a:buFont typeface="Arial" panose="020B0604020202020204" pitchFamily="34" charset="0"/>
              <a:buChar char="•"/>
            </a:pPr>
            <a:r>
              <a:rPr lang="en-GB" sz="800" kern="0" dirty="0">
                <a:solidFill>
                  <a:srgbClr val="000000"/>
                </a:solidFill>
                <a:latin typeface="Arial" panose="020B0604020202020204"/>
                <a:sym typeface="Calibri"/>
              </a:rPr>
              <a:t>Italian – Beginner</a:t>
            </a:r>
          </a:p>
          <a:p>
            <a:pPr marL="171446" indent="-171446" defTabSz="457189" fontAlgn="auto" hangingPunct="0">
              <a:spcBef>
                <a:spcPts val="0"/>
              </a:spcBef>
              <a:spcAft>
                <a:spcPts val="0"/>
              </a:spcAft>
              <a:buFont typeface="Arial" panose="020B0604020202020204" pitchFamily="34" charset="0"/>
              <a:buChar char="•"/>
            </a:pPr>
            <a:r>
              <a:rPr lang="en-GB" sz="800" kern="0" dirty="0">
                <a:solidFill>
                  <a:srgbClr val="000000"/>
                </a:solidFill>
                <a:latin typeface="Arial" panose="020B0604020202020204"/>
                <a:sym typeface="Calibri"/>
              </a:rPr>
              <a:t>Spanish - Beginner</a:t>
            </a:r>
          </a:p>
          <a:p>
            <a:pPr marL="171446" indent="-171446" defTabSz="457189" fontAlgn="auto" hangingPunct="0">
              <a:spcBef>
                <a:spcPts val="0"/>
              </a:spcBef>
              <a:spcAft>
                <a:spcPts val="0"/>
              </a:spcAft>
              <a:buFont typeface="Arial" panose="020B0604020202020204" pitchFamily="34" charset="0"/>
              <a:buChar char="•"/>
            </a:pPr>
            <a:endParaRPr lang="en-GB" sz="800" kern="0" dirty="0">
              <a:solidFill>
                <a:srgbClr val="000000"/>
              </a:solidFill>
              <a:latin typeface="Arial" panose="020B0604020202020204"/>
              <a:sym typeface="Calibri"/>
            </a:endParaRPr>
          </a:p>
          <a:p>
            <a:pPr defTabSz="457189" fontAlgn="auto" hangingPunct="0">
              <a:spcBef>
                <a:spcPts val="0"/>
              </a:spcBef>
              <a:spcAft>
                <a:spcPts val="0"/>
              </a:spcAft>
            </a:pPr>
            <a:r>
              <a:rPr lang="en-GB" sz="900" b="1" u="sng" kern="0" dirty="0">
                <a:solidFill>
                  <a:srgbClr val="000000"/>
                </a:solidFill>
                <a:latin typeface="Arial" panose="020B0604020202020204"/>
                <a:sym typeface="Calibri"/>
              </a:rPr>
              <a:t>Soft Skills</a:t>
            </a:r>
          </a:p>
          <a:p>
            <a:pPr marL="171450" indent="-171450" defTabSz="457189" fontAlgn="auto" hangingPunct="0">
              <a:spcBef>
                <a:spcPts val="0"/>
              </a:spcBef>
              <a:spcAft>
                <a:spcPts val="0"/>
              </a:spcAft>
              <a:buFont typeface="Arial" panose="020B0604020202020204" pitchFamily="34" charset="0"/>
              <a:buChar char="•"/>
            </a:pPr>
            <a:endParaRPr lang="en-GB" sz="900" b="1" u="sng" kern="0" dirty="0">
              <a:latin typeface="Arial" panose="020B0604020202020204"/>
              <a:sym typeface="Calibri"/>
            </a:endParaRPr>
          </a:p>
          <a:p>
            <a:pPr marL="171450" indent="-171450" defTabSz="457189" fontAlgn="auto" hangingPunct="0">
              <a:spcBef>
                <a:spcPts val="0"/>
              </a:spcBef>
              <a:spcAft>
                <a:spcPts val="0"/>
              </a:spcAft>
              <a:buFont typeface="Arial" panose="020B0604020202020204" pitchFamily="34" charset="0"/>
              <a:buChar char="•"/>
            </a:pPr>
            <a:r>
              <a:rPr lang="en-US" sz="800" dirty="0"/>
              <a:t>Communication, active listening, teamwork, integrity, adaptability, critical thinking, empathy, problem-solving</a:t>
            </a:r>
          </a:p>
          <a:p>
            <a:pPr defTabSz="457189" fontAlgn="auto" hangingPunct="0">
              <a:spcBef>
                <a:spcPts val="0"/>
              </a:spcBef>
              <a:spcAft>
                <a:spcPts val="0"/>
              </a:spcAft>
            </a:pPr>
            <a:endParaRPr lang="en-GB" sz="900" b="1" u="sng" kern="0" dirty="0">
              <a:solidFill>
                <a:srgbClr val="000000"/>
              </a:solidFill>
              <a:latin typeface="Arial" panose="020B0604020202020204"/>
              <a:sym typeface="Calibri"/>
            </a:endParaRPr>
          </a:p>
        </p:txBody>
      </p:sp>
      <p:cxnSp>
        <p:nvCxnSpPr>
          <p:cNvPr id="64" name="Straight Connector 63">
            <a:extLst>
              <a:ext uri="{FF2B5EF4-FFF2-40B4-BE49-F238E27FC236}">
                <a16:creationId xmlns:a16="http://schemas.microsoft.com/office/drawing/2014/main" id="{E8E1D511-1109-C0F2-06B2-286C8AF21044}"/>
              </a:ext>
            </a:extLst>
          </p:cNvPr>
          <p:cNvCxnSpPr>
            <a:cxnSpLocks/>
          </p:cNvCxnSpPr>
          <p:nvPr/>
        </p:nvCxnSpPr>
        <p:spPr>
          <a:xfrm>
            <a:off x="3801674" y="511039"/>
            <a:ext cx="7949" cy="2218023"/>
          </a:xfrm>
          <a:prstGeom prst="line">
            <a:avLst/>
          </a:prstGeom>
          <a:gradFill flip="none" rotWithShape="1">
            <a:gsLst>
              <a:gs pos="50000">
                <a:srgbClr val="E5546C">
                  <a:alpha val="52000"/>
                </a:srgbClr>
              </a:gs>
              <a:gs pos="97000">
                <a:srgbClr val="A53094">
                  <a:alpha val="98000"/>
                </a:srgbClr>
              </a:gs>
            </a:gsLst>
            <a:lin ang="5400000" scaled="1"/>
            <a:tileRect/>
          </a:gradFill>
          <a:ln w="6350" cap="flat">
            <a:solidFill>
              <a:schemeClr val="tx1">
                <a:lumMod val="50000"/>
                <a:lumOff val="50000"/>
              </a:schemeClr>
            </a:solidFill>
            <a:prstDash val="lgDash"/>
            <a:round/>
          </a:ln>
          <a:effectLst/>
          <a:sp3d/>
        </p:spPr>
        <p:style>
          <a:lnRef idx="0">
            <a:scrgbClr r="0" g="0" b="0"/>
          </a:lnRef>
          <a:fillRef idx="0">
            <a:scrgbClr r="0" g="0" b="0"/>
          </a:fillRef>
          <a:effectRef idx="0">
            <a:scrgbClr r="0" g="0" b="0"/>
          </a:effectRef>
          <a:fontRef idx="none"/>
        </p:style>
      </p:cxnSp>
      <p:sp>
        <p:nvSpPr>
          <p:cNvPr id="82" name="TextBox 81">
            <a:extLst>
              <a:ext uri="{FF2B5EF4-FFF2-40B4-BE49-F238E27FC236}">
                <a16:creationId xmlns:a16="http://schemas.microsoft.com/office/drawing/2014/main" id="{CF731711-8AA9-E667-8C24-3AF78A6016DD}"/>
              </a:ext>
            </a:extLst>
          </p:cNvPr>
          <p:cNvSpPr txBox="1"/>
          <p:nvPr/>
        </p:nvSpPr>
        <p:spPr>
          <a:xfrm>
            <a:off x="236907" y="3246245"/>
            <a:ext cx="8612218"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defRPr/>
            </a:pPr>
            <a:r>
              <a:rPr lang="en-GB" sz="800" b="1" kern="0" dirty="0">
                <a:solidFill>
                  <a:srgbClr val="000000"/>
                </a:solidFill>
                <a:latin typeface="Arial" panose="020B0604020202020204"/>
              </a:rPr>
              <a:t>UN Geneva Design System</a:t>
            </a:r>
          </a:p>
          <a:p>
            <a:pPr>
              <a:defRPr/>
            </a:pPr>
            <a:r>
              <a:rPr lang="en-GB" sz="800" dirty="0"/>
              <a:t>Starting from the new theme for the ungeneva.org website I created a </a:t>
            </a:r>
            <a:r>
              <a:rPr lang="en-GB" sz="800" dirty="0" err="1"/>
              <a:t>starterkit</a:t>
            </a:r>
            <a:r>
              <a:rPr lang="en-GB" sz="800" dirty="0"/>
              <a:t> theme that was later used </a:t>
            </a:r>
            <a:r>
              <a:rPr lang="en-GB" sz="800" dirty="0" err="1"/>
              <a:t>onall</a:t>
            </a:r>
            <a:r>
              <a:rPr lang="en-GB" sz="800" dirty="0"/>
              <a:t> ITBAU Drupal projects and also projects from other departments. The main objective was to have a unified, easy to use and accessible (WCAG compliant) theme.</a:t>
            </a:r>
            <a:endParaRPr lang="en-GB" sz="1000" kern="0" dirty="0">
              <a:solidFill>
                <a:srgbClr val="000000"/>
              </a:solidFill>
              <a:cs typeface="Arial" panose="020B0604020202020204" pitchFamily="34" charset="0"/>
              <a:sym typeface="Calibri"/>
            </a:endParaRPr>
          </a:p>
        </p:txBody>
      </p:sp>
      <p:cxnSp>
        <p:nvCxnSpPr>
          <p:cNvPr id="83" name="Straight Connector 82">
            <a:extLst>
              <a:ext uri="{FF2B5EF4-FFF2-40B4-BE49-F238E27FC236}">
                <a16:creationId xmlns:a16="http://schemas.microsoft.com/office/drawing/2014/main" id="{79F4EC13-E8B2-9E2C-C235-532178EAACA2}"/>
              </a:ext>
            </a:extLst>
          </p:cNvPr>
          <p:cNvCxnSpPr>
            <a:cxnSpLocks/>
          </p:cNvCxnSpPr>
          <p:nvPr/>
        </p:nvCxnSpPr>
        <p:spPr>
          <a:xfrm>
            <a:off x="317403" y="503285"/>
            <a:ext cx="571821"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cxnSp>
        <p:nvCxnSpPr>
          <p:cNvPr id="85" name="Straight Connector 84">
            <a:extLst>
              <a:ext uri="{FF2B5EF4-FFF2-40B4-BE49-F238E27FC236}">
                <a16:creationId xmlns:a16="http://schemas.microsoft.com/office/drawing/2014/main" id="{86ED9D18-FA24-A11E-FD85-F5018B9A98F3}"/>
              </a:ext>
            </a:extLst>
          </p:cNvPr>
          <p:cNvCxnSpPr>
            <a:cxnSpLocks/>
          </p:cNvCxnSpPr>
          <p:nvPr/>
        </p:nvCxnSpPr>
        <p:spPr>
          <a:xfrm>
            <a:off x="3858176" y="501235"/>
            <a:ext cx="571821"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cxnSp>
        <p:nvCxnSpPr>
          <p:cNvPr id="66" name="Straight Connector 65">
            <a:extLst>
              <a:ext uri="{FF2B5EF4-FFF2-40B4-BE49-F238E27FC236}">
                <a16:creationId xmlns:a16="http://schemas.microsoft.com/office/drawing/2014/main" id="{99857F99-01F8-3AB9-2981-D1B3575DDE4E}"/>
              </a:ext>
            </a:extLst>
          </p:cNvPr>
          <p:cNvCxnSpPr>
            <a:cxnSpLocks/>
          </p:cNvCxnSpPr>
          <p:nvPr/>
        </p:nvCxnSpPr>
        <p:spPr>
          <a:xfrm>
            <a:off x="235107" y="2807437"/>
            <a:ext cx="8629800" cy="0"/>
          </a:xfrm>
          <a:prstGeom prst="line">
            <a:avLst/>
          </a:prstGeom>
          <a:gradFill flip="none" rotWithShape="1">
            <a:gsLst>
              <a:gs pos="50000">
                <a:srgbClr val="E5546C">
                  <a:alpha val="52000"/>
                </a:srgbClr>
              </a:gs>
              <a:gs pos="97000">
                <a:srgbClr val="A53094">
                  <a:alpha val="98000"/>
                </a:srgbClr>
              </a:gs>
            </a:gsLst>
            <a:lin ang="5400000" scaled="1"/>
            <a:tileRect/>
          </a:gradFill>
          <a:ln w="6350" cap="flat">
            <a:solidFill>
              <a:schemeClr val="tx1">
                <a:lumMod val="50000"/>
                <a:lumOff val="50000"/>
              </a:schemeClr>
            </a:solidFill>
            <a:prstDash val="lgDash"/>
            <a:round/>
          </a:ln>
          <a:effectLst/>
          <a:sp3d/>
        </p:spPr>
        <p:style>
          <a:lnRef idx="0">
            <a:scrgbClr r="0" g="0" b="0"/>
          </a:lnRef>
          <a:fillRef idx="0">
            <a:scrgbClr r="0" g="0" b="0"/>
          </a:fillRef>
          <a:effectRef idx="0">
            <a:scrgbClr r="0" g="0" b="0"/>
          </a:effectRef>
          <a:fontRef idx="none"/>
        </p:style>
      </p:cxnSp>
      <p:sp>
        <p:nvSpPr>
          <p:cNvPr id="60" name="Rectangle 59">
            <a:extLst>
              <a:ext uri="{FF2B5EF4-FFF2-40B4-BE49-F238E27FC236}">
                <a16:creationId xmlns:a16="http://schemas.microsoft.com/office/drawing/2014/main" id="{79AEE582-9541-B786-0F81-2C330E5450D7}"/>
              </a:ext>
            </a:extLst>
          </p:cNvPr>
          <p:cNvSpPr/>
          <p:nvPr/>
        </p:nvSpPr>
        <p:spPr>
          <a:xfrm>
            <a:off x="235107" y="2903005"/>
            <a:ext cx="2273831" cy="27432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fontAlgn="auto" hangingPunct="0">
              <a:spcBef>
                <a:spcPts val="0"/>
              </a:spcBef>
              <a:spcAft>
                <a:spcPts val="0"/>
              </a:spcAft>
              <a:defRPr/>
            </a:pPr>
            <a:r>
              <a:rPr lang="en-US" sz="1000" i="1" kern="0" dirty="0">
                <a:solidFill>
                  <a:prstClr val="white"/>
                </a:solidFill>
                <a:latin typeface="Arial" panose="020B0604020202020204"/>
                <a:cs typeface="Arial" panose="020B0604020202020204" pitchFamily="34" charset="0"/>
                <a:sym typeface="Calibri"/>
              </a:rPr>
              <a:t>         Personal Projects</a:t>
            </a:r>
          </a:p>
        </p:txBody>
      </p:sp>
      <p:cxnSp>
        <p:nvCxnSpPr>
          <p:cNvPr id="5" name="Straight Connector 4">
            <a:extLst>
              <a:ext uri="{FF2B5EF4-FFF2-40B4-BE49-F238E27FC236}">
                <a16:creationId xmlns:a16="http://schemas.microsoft.com/office/drawing/2014/main" id="{8A64A8FB-F9AB-594E-AECE-446ADEDF2AEF}"/>
              </a:ext>
            </a:extLst>
          </p:cNvPr>
          <p:cNvCxnSpPr>
            <a:cxnSpLocks/>
          </p:cNvCxnSpPr>
          <p:nvPr/>
        </p:nvCxnSpPr>
        <p:spPr>
          <a:xfrm>
            <a:off x="302825" y="3041077"/>
            <a:ext cx="571821" cy="0"/>
          </a:xfrm>
          <a:prstGeom prst="line">
            <a:avLst/>
          </a:prstGeom>
          <a:noFill/>
          <a:ln w="25400" cap="flat">
            <a:solidFill>
              <a:schemeClr val="bg1"/>
            </a:solidFill>
            <a:prstDash val="solid"/>
            <a:round/>
          </a:ln>
          <a:effectLst/>
          <a:sp3d/>
        </p:spPr>
        <p:style>
          <a:lnRef idx="0">
            <a:scrgbClr r="0" g="0" b="0"/>
          </a:lnRef>
          <a:fillRef idx="0">
            <a:scrgbClr r="0" g="0" b="0"/>
          </a:fillRef>
          <a:effectRef idx="0">
            <a:scrgbClr r="0" g="0" b="0"/>
          </a:effectRef>
          <a:fontRef idx="none"/>
        </p:style>
      </p:cxnSp>
      <p:sp>
        <p:nvSpPr>
          <p:cNvPr id="2" name="TextBox 1">
            <a:extLst>
              <a:ext uri="{FF2B5EF4-FFF2-40B4-BE49-F238E27FC236}">
                <a16:creationId xmlns:a16="http://schemas.microsoft.com/office/drawing/2014/main" id="{531F60DA-860B-458D-1768-E0BDC4D6924C}"/>
              </a:ext>
            </a:extLst>
          </p:cNvPr>
          <p:cNvSpPr txBox="1"/>
          <p:nvPr/>
        </p:nvSpPr>
        <p:spPr>
          <a:xfrm>
            <a:off x="235107" y="3707910"/>
            <a:ext cx="8629800" cy="58477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defRPr/>
            </a:pPr>
            <a:r>
              <a:rPr lang="en-GB" sz="800" b="1" kern="0" dirty="0">
                <a:solidFill>
                  <a:srgbClr val="000000"/>
                </a:solidFill>
                <a:latin typeface="Arial" panose="020B0604020202020204"/>
              </a:rPr>
              <a:t>Digital Recordings Portal</a:t>
            </a:r>
          </a:p>
          <a:p>
            <a:pPr>
              <a:defRPr/>
            </a:pPr>
            <a:r>
              <a:rPr lang="en-GB" sz="800" dirty="0"/>
              <a:t>For the Digital Recordings Portal, I created a new application from scratch that would integrate a new admin management interface, a new user-friendly and accessible player built from scratch, a new Access Control System, an integration with WIPO to provide automated transcription to meeting recordings and full-text search across all transcripts. Recently I also contributed in creating the technical documentation for an internal architecture review.</a:t>
            </a:r>
            <a:endParaRPr lang="en-GB" sz="1000" kern="0" dirty="0">
              <a:solidFill>
                <a:srgbClr val="000000"/>
              </a:solidFill>
              <a:cs typeface="Arial" panose="020B0604020202020204" pitchFamily="34" charset="0"/>
              <a:sym typeface="Calibri"/>
            </a:endParaRPr>
          </a:p>
        </p:txBody>
      </p:sp>
      <p:sp>
        <p:nvSpPr>
          <p:cNvPr id="3" name="TextBox 2">
            <a:extLst>
              <a:ext uri="{FF2B5EF4-FFF2-40B4-BE49-F238E27FC236}">
                <a16:creationId xmlns:a16="http://schemas.microsoft.com/office/drawing/2014/main" id="{6FE7AD97-B59C-0AFC-1C3D-D3036AC04854}"/>
              </a:ext>
            </a:extLst>
          </p:cNvPr>
          <p:cNvSpPr txBox="1"/>
          <p:nvPr/>
        </p:nvSpPr>
        <p:spPr>
          <a:xfrm>
            <a:off x="236907" y="4292685"/>
            <a:ext cx="8612218" cy="461665"/>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defRPr/>
            </a:pPr>
            <a:r>
              <a:rPr lang="en-GB" sz="800" b="1" kern="0" dirty="0">
                <a:solidFill>
                  <a:srgbClr val="000000"/>
                </a:solidFill>
                <a:latin typeface="Arial" panose="020B0604020202020204"/>
              </a:rPr>
              <a:t>HP Event registration platform</a:t>
            </a:r>
          </a:p>
          <a:p>
            <a:pPr>
              <a:defRPr/>
            </a:pPr>
            <a:r>
              <a:rPr lang="en-GB" sz="800" dirty="0"/>
              <a:t>Custom registration platform for conferences organised by HP Romania. It allows users to register their hotel rooms, confirm their attendance to conference panels and provide feedback after the event. It also integrates an SMS gateway service that notified users of the event schedule.</a:t>
            </a:r>
            <a:endParaRPr lang="en-GB" sz="1000" kern="0" dirty="0">
              <a:solidFill>
                <a:srgbClr val="000000"/>
              </a:solidFill>
              <a:cs typeface="Arial" panose="020B0604020202020204" pitchFamily="34" charset="0"/>
              <a:sym typeface="Calibri"/>
            </a:endParaRPr>
          </a:p>
        </p:txBody>
      </p:sp>
      <p:sp>
        <p:nvSpPr>
          <p:cNvPr id="4" name="TextBox 3">
            <a:extLst>
              <a:ext uri="{FF2B5EF4-FFF2-40B4-BE49-F238E27FC236}">
                <a16:creationId xmlns:a16="http://schemas.microsoft.com/office/drawing/2014/main" id="{424FFF5F-7E09-0453-D5E2-D2984E334FE9}"/>
              </a:ext>
            </a:extLst>
          </p:cNvPr>
          <p:cNvSpPr txBox="1"/>
          <p:nvPr/>
        </p:nvSpPr>
        <p:spPr>
          <a:xfrm>
            <a:off x="236907" y="4763271"/>
            <a:ext cx="8612218" cy="338554"/>
          </a:xfrm>
          <a:prstGeom prst="rect">
            <a:avLst/>
          </a:prstGeom>
          <a:noFill/>
        </p:spPr>
        <p:txBody>
          <a:bodyPr wrap="square" lIns="91440" tIns="45720" rIns="91440" bIns="45720" rtlCol="0" anchor="t">
            <a:spAutoFit/>
          </a:bodyPr>
          <a:lstStyle/>
          <a:p>
            <a:pPr marL="171450" indent="-171450">
              <a:buFont typeface="Arial" panose="020B0604020202020204" pitchFamily="34" charset="0"/>
              <a:buChar char="•"/>
              <a:defRPr/>
            </a:pPr>
            <a:r>
              <a:rPr lang="en-GB" sz="800" b="1" kern="0" dirty="0">
                <a:solidFill>
                  <a:srgbClr val="000000"/>
                </a:solidFill>
                <a:latin typeface="Arial" panose="020B0604020202020204"/>
              </a:rPr>
              <a:t>The Urbane Society</a:t>
            </a:r>
          </a:p>
          <a:p>
            <a:pPr>
              <a:defRPr/>
            </a:pPr>
            <a:r>
              <a:rPr lang="en-GB" sz="800" dirty="0"/>
              <a:t>Online platform and mobile app API for providing discounts to private club members.</a:t>
            </a:r>
            <a:endParaRPr lang="en-GB" sz="1000" kern="0" dirty="0">
              <a:solidFill>
                <a:srgbClr val="000000"/>
              </a:solidFill>
              <a:cs typeface="Arial" panose="020B0604020202020204" pitchFamily="34" charset="0"/>
              <a:sym typeface="Calibri"/>
            </a:endParaRPr>
          </a:p>
        </p:txBody>
      </p:sp>
    </p:spTree>
    <p:extLst>
      <p:ext uri="{BB962C8B-B14F-4D97-AF65-F5344CB8AC3E}">
        <p14:creationId xmlns:p14="http://schemas.microsoft.com/office/powerpoint/2010/main" val="718259388"/>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154"/>
  <p:tag name="MADJIK_AGENDA" val="&lt;Root&gt;&lt;TreeViewNode value=&quot;Goals of the meeting&quot; /&gt;&lt;TreeViewNode value=&quot;New slide&quot; /&gt;&lt;/Root&gt;"/>
</p:tagLst>
</file>

<file path=ppt/theme/theme1.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3746E0361743E4BB45A423916E89CAE" ma:contentTypeVersion="13" ma:contentTypeDescription="Create a new document." ma:contentTypeScope="" ma:versionID="252a04f26d04f82e1b4fc49207b4b19c">
  <xsd:schema xmlns:xsd="http://www.w3.org/2001/XMLSchema" xmlns:xs="http://www.w3.org/2001/XMLSchema" xmlns:p="http://schemas.microsoft.com/office/2006/metadata/properties" xmlns:ns2="3582e755-2ec0-40d1-8fae-55e2e34013ff" xmlns:ns3="4cf6fb3b-0757-423d-9424-d902d3215b0b" targetNamespace="http://schemas.microsoft.com/office/2006/metadata/properties" ma:root="true" ma:fieldsID="33aba14e1a4c9dbe6a322474e6020810" ns2:_="" ns3:_="">
    <xsd:import namespace="3582e755-2ec0-40d1-8fae-55e2e34013ff"/>
    <xsd:import namespace="4cf6fb3b-0757-423d-9424-d902d3215b0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82e755-2ec0-40d1-8fae-55e2e34013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7bd3049a-d92e-47f6-938a-5800ed4570ae"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cf6fb3b-0757-423d-9424-d902d3215b0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9b78a7fa-1c6a-4748-8a6b-2319ce620a70}" ma:internalName="TaxCatchAll" ma:showField="CatchAllData" ma:web="4cf6fb3b-0757-423d-9424-d902d3215b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582e755-2ec0-40d1-8fae-55e2e34013ff">
      <Terms xmlns="http://schemas.microsoft.com/office/infopath/2007/PartnerControls"/>
    </lcf76f155ced4ddcb4097134ff3c332f>
    <TaxCatchAll xmlns="4cf6fb3b-0757-423d-9424-d902d3215b0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2F4CD1-3B63-4319-8E05-F7ACEED3A2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82e755-2ec0-40d1-8fae-55e2e34013ff"/>
    <ds:schemaRef ds:uri="4cf6fb3b-0757-423d-9424-d902d3215b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454445-FB6C-4946-B6FA-7D3784AEAA95}">
  <ds:schemaRefs>
    <ds:schemaRef ds:uri="http://purl.org/dc/elements/1.1/"/>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schemas.microsoft.com/office/infopath/2007/PartnerControls"/>
    <ds:schemaRef ds:uri="http://www.w3.org/XML/1998/namespace"/>
    <ds:schemaRef ds:uri="http://purl.org/dc/terms/"/>
    <ds:schemaRef ds:uri="3582e755-2ec0-40d1-8fae-55e2e34013ff"/>
    <ds:schemaRef ds:uri="4cf6fb3b-0757-423d-9424-d902d3215b0b"/>
  </ds:schemaRefs>
</ds:datastoreItem>
</file>

<file path=customXml/itemProps3.xml><?xml version="1.0" encoding="utf-8"?>
<ds:datastoreItem xmlns:ds="http://schemas.openxmlformats.org/officeDocument/2006/customXml" ds:itemID="{0F5E9BCC-7557-4627-8256-CE299EF524AD}">
  <ds:schemaRefs>
    <ds:schemaRef ds:uri="http://schemas.microsoft.com/sharepoint/v3/contenttype/forms"/>
  </ds:schemaRefs>
</ds:datastoreItem>
</file>

<file path=docMetadata/LabelInfo.xml><?xml version="1.0" encoding="utf-8"?>
<clbl:labelList xmlns:clbl="http://schemas.microsoft.com/office/2020/mipLabelMetadata">
  <clbl:label id="{a0819fa7-4367-4500-ba88-dd630d977609}" enabled="1" method="Standard" siteId="{63ce7d59-2f3e-42cd-a8cc-be764cff5eb6}" removed="0"/>
</clbl:labelList>
</file>

<file path=docProps/app.xml><?xml version="1.0" encoding="utf-8"?>
<Properties xmlns="http://schemas.openxmlformats.org/officeDocument/2006/extended-properties" xmlns:vt="http://schemas.openxmlformats.org/officeDocument/2006/docPropsVTypes">
  <Template>Office Theme</Template>
  <TotalTime>23831</TotalTime>
  <Words>614</Words>
  <Application>Microsoft Office PowerPoint</Application>
  <PresentationFormat>On-screen Show (16:10)</PresentationFormat>
  <Paragraphs>71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Calibri</vt:lpstr>
      <vt:lpstr>Myriad Pro</vt:lpstr>
      <vt:lpstr>Myriad Pro Black</vt:lpstr>
      <vt:lpstr>Segoe UI</vt:lpstr>
      <vt:lpstr>2_Office Theme</vt:lpstr>
      <vt:lpstr>PowerPoint Presentation</vt:lpstr>
      <vt:lpstr>PowerPoint Presentation</vt:lpstr>
    </vt:vector>
  </TitlesOfParts>
  <Company>Infosys Technologies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METRO</dc:title>
  <dc:creator>Infosys</dc:creator>
  <cp:lastModifiedBy>Bogdan Radu Dinu</cp:lastModifiedBy>
  <cp:revision>2303</cp:revision>
  <dcterms:created xsi:type="dcterms:W3CDTF">2013-01-15T05:52:32Z</dcterms:created>
  <dcterms:modified xsi:type="dcterms:W3CDTF">2026-04-29T09:19:31Z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0x01010063746E0361743E4BB45A423916E89CAE</vt:lpwstr>
  </property>
  <property fmtid="{D5CDD505-2E9C-101B-9397-08002B2CF9AE}" pid="3" name="MSIP_Label_be4b3411-284d-4d31-bd4f-bc13ef7f1fd6_Enabled">
    <vt:lpwstr>True</vt:lpwstr>
  </property>
  <property fmtid="{D5CDD505-2E9C-101B-9397-08002B2CF9AE}" pid="4" name="MSIP_Label_be4b3411-284d-4d31-bd4f-bc13ef7f1fd6_SiteId">
    <vt:lpwstr>63ce7d59-2f3e-42cd-a8cc-be764cff5eb6</vt:lpwstr>
  </property>
  <property fmtid="{D5CDD505-2E9C-101B-9397-08002B2CF9AE}" pid="5" name="MSIP_Label_be4b3411-284d-4d31-bd4f-bc13ef7f1fd6_Owner">
    <vt:lpwstr>Charanjit_Kaur@ad.infosys.com</vt:lpwstr>
  </property>
  <property fmtid="{D5CDD505-2E9C-101B-9397-08002B2CF9AE}" pid="6" name="MSIP_Label_be4b3411-284d-4d31-bd4f-bc13ef7f1fd6_SetDate">
    <vt:lpwstr>2020-02-05T08:16:33.5473147Z</vt:lpwstr>
  </property>
  <property fmtid="{D5CDD505-2E9C-101B-9397-08002B2CF9AE}" pid="7" name="MSIP_Label_be4b3411-284d-4d31-bd4f-bc13ef7f1fd6_Name">
    <vt:lpwstr>Internal</vt:lpwstr>
  </property>
  <property fmtid="{D5CDD505-2E9C-101B-9397-08002B2CF9AE}" pid="8" name="MSIP_Label_be4b3411-284d-4d31-bd4f-bc13ef7f1fd6_Application">
    <vt:lpwstr>Microsoft Azure Information Protection</vt:lpwstr>
  </property>
  <property fmtid="{D5CDD505-2E9C-101B-9397-08002B2CF9AE}" pid="9" name="MSIP_Label_be4b3411-284d-4d31-bd4f-bc13ef7f1fd6_ActionId">
    <vt:lpwstr>e1f22797-2109-4d1f-927c-2fe34bbc6745</vt:lpwstr>
  </property>
  <property fmtid="{D5CDD505-2E9C-101B-9397-08002B2CF9AE}" pid="10" name="MSIP_Label_be4b3411-284d-4d31-bd4f-bc13ef7f1fd6_Extended_MSFT_Method">
    <vt:lpwstr>Automatic</vt:lpwstr>
  </property>
  <property fmtid="{D5CDD505-2E9C-101B-9397-08002B2CF9AE}" pid="11" name="MSIP_Label_a0819fa7-4367-4500-ba88-dd630d977609_Enabled">
    <vt:lpwstr>true</vt:lpwstr>
  </property>
  <property fmtid="{D5CDD505-2E9C-101B-9397-08002B2CF9AE}" pid="12" name="MSIP_Label_a0819fa7-4367-4500-ba88-dd630d977609_SetDate">
    <vt:lpwstr>2023-04-24T07:41:21Z</vt:lpwstr>
  </property>
  <property fmtid="{D5CDD505-2E9C-101B-9397-08002B2CF9AE}" pid="13" name="MSIP_Label_a0819fa7-4367-4500-ba88-dd630d977609_Method">
    <vt:lpwstr>Standard</vt:lpwstr>
  </property>
  <property fmtid="{D5CDD505-2E9C-101B-9397-08002B2CF9AE}" pid="14" name="MSIP_Label_a0819fa7-4367-4500-ba88-dd630d977609_Name">
    <vt:lpwstr>a0819fa7-4367-4500-ba88-dd630d977609</vt:lpwstr>
  </property>
  <property fmtid="{D5CDD505-2E9C-101B-9397-08002B2CF9AE}" pid="15" name="MSIP_Label_a0819fa7-4367-4500-ba88-dd630d977609_SiteId">
    <vt:lpwstr>63ce7d59-2f3e-42cd-a8cc-be764cff5eb6</vt:lpwstr>
  </property>
  <property fmtid="{D5CDD505-2E9C-101B-9397-08002B2CF9AE}" pid="16" name="MSIP_Label_a0819fa7-4367-4500-ba88-dd630d977609_ActionId">
    <vt:lpwstr>e1f22797-2109-4d1f-927c-2fe34bbc6745</vt:lpwstr>
  </property>
  <property fmtid="{D5CDD505-2E9C-101B-9397-08002B2CF9AE}" pid="17" name="MSIP_Label_a0819fa7-4367-4500-ba88-dd630d977609_ContentBits">
    <vt:lpwstr>0</vt:lpwstr>
  </property>
  <property fmtid="{D5CDD505-2E9C-101B-9397-08002B2CF9AE}" pid="18" name="MediaServiceImageTags">
    <vt:lpwstr/>
  </property>
</Properties>
</file>